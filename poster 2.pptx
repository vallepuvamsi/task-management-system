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8BEA17-F514-4CC3-983E-1C3A31F07CAF}" v="23" dt="2024-04-17T08:18:35.8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408" y="-485"/>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msi vallepu" userId="f9b9436ef6fb9761" providerId="LiveId" clId="{188BEA17-F514-4CC3-983E-1C3A31F07CAF}"/>
    <pc:docChg chg="undo custSel modSld">
      <pc:chgData name="vamsi vallepu" userId="f9b9436ef6fb9761" providerId="LiveId" clId="{188BEA17-F514-4CC3-983E-1C3A31F07CAF}" dt="2024-04-17T08:18:09.678" v="2853" actId="20577"/>
      <pc:docMkLst>
        <pc:docMk/>
      </pc:docMkLst>
      <pc:sldChg chg="addSp delSp modSp mod">
        <pc:chgData name="vamsi vallepu" userId="f9b9436ef6fb9761" providerId="LiveId" clId="{188BEA17-F514-4CC3-983E-1C3A31F07CAF}" dt="2024-04-17T08:18:09.678" v="2853" actId="20577"/>
        <pc:sldMkLst>
          <pc:docMk/>
          <pc:sldMk cId="0" sldId="256"/>
        </pc:sldMkLst>
        <pc:spChg chg="add mod">
          <ac:chgData name="vamsi vallepu" userId="f9b9436ef6fb9761" providerId="LiveId" clId="{188BEA17-F514-4CC3-983E-1C3A31F07CAF}" dt="2024-04-17T02:32:19.627" v="674" actId="14100"/>
          <ac:spMkLst>
            <pc:docMk/>
            <pc:sldMk cId="0" sldId="256"/>
            <ac:spMk id="3" creationId="{B1391C10-B651-8EE0-43AA-A4959A5F5A89}"/>
          </ac:spMkLst>
        </pc:spChg>
        <pc:spChg chg="mod">
          <ac:chgData name="vamsi vallepu" userId="f9b9436ef6fb9761" providerId="LiveId" clId="{188BEA17-F514-4CC3-983E-1C3A31F07CAF}" dt="2024-04-16T16:02:38.777" v="402" actId="255"/>
          <ac:spMkLst>
            <pc:docMk/>
            <pc:sldMk cId="0" sldId="256"/>
            <ac:spMk id="5" creationId="{00000000-0000-0000-0000-000000000000}"/>
          </ac:spMkLst>
        </pc:spChg>
        <pc:spChg chg="add mod">
          <ac:chgData name="vamsi vallepu" userId="f9b9436ef6fb9761" providerId="LiveId" clId="{188BEA17-F514-4CC3-983E-1C3A31F07CAF}" dt="2024-04-17T02:32:02.429" v="671" actId="14100"/>
          <ac:spMkLst>
            <pc:docMk/>
            <pc:sldMk cId="0" sldId="256"/>
            <ac:spMk id="9" creationId="{DA10EA09-22C7-BEFC-982F-3C691B3B68FB}"/>
          </ac:spMkLst>
        </pc:spChg>
        <pc:spChg chg="add mod">
          <ac:chgData name="vamsi vallepu" userId="f9b9436ef6fb9761" providerId="LiveId" clId="{188BEA17-F514-4CC3-983E-1C3A31F07CAF}" dt="2024-04-16T16:30:54.747" v="633" actId="13822"/>
          <ac:spMkLst>
            <pc:docMk/>
            <pc:sldMk cId="0" sldId="256"/>
            <ac:spMk id="11" creationId="{8794B80B-462C-7036-2C3D-D1D12A7C2A80}"/>
          </ac:spMkLst>
        </pc:spChg>
        <pc:spChg chg="add mod">
          <ac:chgData name="vamsi vallepu" userId="f9b9436ef6fb9761" providerId="LiveId" clId="{188BEA17-F514-4CC3-983E-1C3A31F07CAF}" dt="2024-04-16T16:30:54.747" v="633" actId="13822"/>
          <ac:spMkLst>
            <pc:docMk/>
            <pc:sldMk cId="0" sldId="256"/>
            <ac:spMk id="14" creationId="{0A814353-3321-C38C-23F8-BC7347C6AF10}"/>
          </ac:spMkLst>
        </pc:spChg>
        <pc:spChg chg="mod">
          <ac:chgData name="vamsi vallepu" userId="f9b9436ef6fb9761" providerId="LiveId" clId="{188BEA17-F514-4CC3-983E-1C3A31F07CAF}" dt="2024-04-17T03:10:50.831" v="1345" actId="255"/>
          <ac:spMkLst>
            <pc:docMk/>
            <pc:sldMk cId="0" sldId="256"/>
            <ac:spMk id="15" creationId="{00000000-0000-0000-0000-000000000000}"/>
          </ac:spMkLst>
        </pc:spChg>
        <pc:spChg chg="add mod">
          <ac:chgData name="vamsi vallepu" userId="f9b9436ef6fb9761" providerId="LiveId" clId="{188BEA17-F514-4CC3-983E-1C3A31F07CAF}" dt="2024-04-16T16:30:54.747" v="633" actId="13822"/>
          <ac:spMkLst>
            <pc:docMk/>
            <pc:sldMk cId="0" sldId="256"/>
            <ac:spMk id="17" creationId="{D7D05B88-0B6E-2679-33FE-D6B7BCB4E4BE}"/>
          </ac:spMkLst>
        </pc:spChg>
        <pc:spChg chg="add mod">
          <ac:chgData name="vamsi vallepu" userId="f9b9436ef6fb9761" providerId="LiveId" clId="{188BEA17-F514-4CC3-983E-1C3A31F07CAF}" dt="2024-04-16T16:30:54.747" v="633" actId="13822"/>
          <ac:spMkLst>
            <pc:docMk/>
            <pc:sldMk cId="0" sldId="256"/>
            <ac:spMk id="18" creationId="{D249F407-4C48-C7B2-708E-EF3E30388B10}"/>
          </ac:spMkLst>
        </pc:spChg>
        <pc:spChg chg="mod">
          <ac:chgData name="vamsi vallepu" userId="f9b9436ef6fb9761" providerId="LiveId" clId="{188BEA17-F514-4CC3-983E-1C3A31F07CAF}" dt="2024-04-17T02:50:27.896" v="1295" actId="14100"/>
          <ac:spMkLst>
            <pc:docMk/>
            <pc:sldMk cId="0" sldId="256"/>
            <ac:spMk id="20" creationId="{00000000-0000-0000-0000-000000000000}"/>
          </ac:spMkLst>
        </pc:spChg>
        <pc:spChg chg="add mod">
          <ac:chgData name="vamsi vallepu" userId="f9b9436ef6fb9761" providerId="LiveId" clId="{188BEA17-F514-4CC3-983E-1C3A31F07CAF}" dt="2024-04-16T16:30:54.747" v="633" actId="13822"/>
          <ac:spMkLst>
            <pc:docMk/>
            <pc:sldMk cId="0" sldId="256"/>
            <ac:spMk id="21" creationId="{C19AB4F7-3FEA-3D9E-2A93-49F503AC9621}"/>
          </ac:spMkLst>
        </pc:spChg>
        <pc:spChg chg="mod">
          <ac:chgData name="vamsi vallepu" userId="f9b9436ef6fb9761" providerId="LiveId" clId="{188BEA17-F514-4CC3-983E-1C3A31F07CAF}" dt="2024-04-17T02:50:07.774" v="1293" actId="255"/>
          <ac:spMkLst>
            <pc:docMk/>
            <pc:sldMk cId="0" sldId="256"/>
            <ac:spMk id="26" creationId="{00000000-0000-0000-0000-000000000000}"/>
          </ac:spMkLst>
        </pc:spChg>
        <pc:spChg chg="del mod">
          <ac:chgData name="vamsi vallepu" userId="f9b9436ef6fb9761" providerId="LiveId" clId="{188BEA17-F514-4CC3-983E-1C3A31F07CAF}" dt="2024-04-16T15:31:55.271" v="26" actId="478"/>
          <ac:spMkLst>
            <pc:docMk/>
            <pc:sldMk cId="0" sldId="256"/>
            <ac:spMk id="27" creationId="{00000000-0000-0000-0000-000000000000}"/>
          </ac:spMkLst>
        </pc:spChg>
        <pc:spChg chg="del">
          <ac:chgData name="vamsi vallepu" userId="f9b9436ef6fb9761" providerId="LiveId" clId="{188BEA17-F514-4CC3-983E-1C3A31F07CAF}" dt="2024-04-16T15:31:50.166" v="24" actId="478"/>
          <ac:spMkLst>
            <pc:docMk/>
            <pc:sldMk cId="0" sldId="256"/>
            <ac:spMk id="28" creationId="{00000000-0000-0000-0000-000000000000}"/>
          </ac:spMkLst>
        </pc:spChg>
        <pc:spChg chg="del mod">
          <ac:chgData name="vamsi vallepu" userId="f9b9436ef6fb9761" providerId="LiveId" clId="{188BEA17-F514-4CC3-983E-1C3A31F07CAF}" dt="2024-04-16T15:31:48.176" v="23" actId="478"/>
          <ac:spMkLst>
            <pc:docMk/>
            <pc:sldMk cId="0" sldId="256"/>
            <ac:spMk id="32" creationId="{00000000-0000-0000-0000-000000000000}"/>
          </ac:spMkLst>
        </pc:spChg>
        <pc:spChg chg="del mod">
          <ac:chgData name="vamsi vallepu" userId="f9b9436ef6fb9761" providerId="LiveId" clId="{188BEA17-F514-4CC3-983E-1C3A31F07CAF}" dt="2024-04-16T15:31:57.930" v="27" actId="478"/>
          <ac:spMkLst>
            <pc:docMk/>
            <pc:sldMk cId="0" sldId="256"/>
            <ac:spMk id="33" creationId="{00000000-0000-0000-0000-000000000000}"/>
          </ac:spMkLst>
        </pc:spChg>
        <pc:spChg chg="del">
          <ac:chgData name="vamsi vallepu" userId="f9b9436ef6fb9761" providerId="LiveId" clId="{188BEA17-F514-4CC3-983E-1C3A31F07CAF}" dt="2024-04-16T15:32:00.298" v="28" actId="478"/>
          <ac:spMkLst>
            <pc:docMk/>
            <pc:sldMk cId="0" sldId="256"/>
            <ac:spMk id="34" creationId="{00000000-0000-0000-0000-000000000000}"/>
          </ac:spMkLst>
        </pc:spChg>
        <pc:spChg chg="del">
          <ac:chgData name="vamsi vallepu" userId="f9b9436ef6fb9761" providerId="LiveId" clId="{188BEA17-F514-4CC3-983E-1C3A31F07CAF}" dt="2024-04-16T15:32:02.574" v="29" actId="478"/>
          <ac:spMkLst>
            <pc:docMk/>
            <pc:sldMk cId="0" sldId="256"/>
            <ac:spMk id="35" creationId="{00000000-0000-0000-0000-000000000000}"/>
          </ac:spMkLst>
        </pc:spChg>
        <pc:spChg chg="mod">
          <ac:chgData name="vamsi vallepu" userId="f9b9436ef6fb9761" providerId="LiveId" clId="{188BEA17-F514-4CC3-983E-1C3A31F07CAF}" dt="2024-04-16T16:07:38.955" v="431" actId="1076"/>
          <ac:spMkLst>
            <pc:docMk/>
            <pc:sldMk cId="0" sldId="256"/>
            <ac:spMk id="36" creationId="{00000000-0000-0000-0000-000000000000}"/>
          </ac:spMkLst>
        </pc:spChg>
        <pc:spChg chg="mod">
          <ac:chgData name="vamsi vallepu" userId="f9b9436ef6fb9761" providerId="LiveId" clId="{188BEA17-F514-4CC3-983E-1C3A31F07CAF}" dt="2024-04-17T07:32:54.911" v="2110" actId="20577"/>
          <ac:spMkLst>
            <pc:docMk/>
            <pc:sldMk cId="0" sldId="256"/>
            <ac:spMk id="38" creationId="{00000000-0000-0000-0000-000000000000}"/>
          </ac:spMkLst>
        </pc:spChg>
        <pc:spChg chg="mod">
          <ac:chgData name="vamsi vallepu" userId="f9b9436ef6fb9761" providerId="LiveId" clId="{188BEA17-F514-4CC3-983E-1C3A31F07CAF}" dt="2024-04-17T08:18:09.678" v="2853" actId="20577"/>
          <ac:spMkLst>
            <pc:docMk/>
            <pc:sldMk cId="0" sldId="256"/>
            <ac:spMk id="39" creationId="{00000000-0000-0000-0000-000000000000}"/>
          </ac:spMkLst>
        </pc:spChg>
        <pc:spChg chg="mod">
          <ac:chgData name="vamsi vallepu" userId="f9b9436ef6fb9761" providerId="LiveId" clId="{188BEA17-F514-4CC3-983E-1C3A31F07CAF}" dt="2024-04-16T15:52:42.955" v="174" actId="1076"/>
          <ac:spMkLst>
            <pc:docMk/>
            <pc:sldMk cId="0" sldId="256"/>
            <ac:spMk id="41" creationId="{00000000-0000-0000-0000-000000000000}"/>
          </ac:spMkLst>
        </pc:spChg>
        <pc:picChg chg="mod">
          <ac:chgData name="vamsi vallepu" userId="f9b9436ef6fb9761" providerId="LiveId" clId="{188BEA17-F514-4CC3-983E-1C3A31F07CAF}" dt="2024-04-16T16:17:05.293" v="523" actId="14100"/>
          <ac:picMkLst>
            <pc:docMk/>
            <pc:sldMk cId="0" sldId="256"/>
            <ac:picMk id="56" creationId="{A47EBAD6-D0D4-11C5-07B0-012B925B3E0C}"/>
          </ac:picMkLst>
        </pc:picChg>
        <pc:picChg chg="add del mod">
          <ac:chgData name="vamsi vallepu" userId="f9b9436ef6fb9761" providerId="LiveId" clId="{188BEA17-F514-4CC3-983E-1C3A31F07CAF}" dt="2024-04-16T16:02:45.606" v="403" actId="478"/>
          <ac:picMkLst>
            <pc:docMk/>
            <pc:sldMk cId="0" sldId="256"/>
            <ac:picMk id="1026" creationId="{816F8FC8-3890-C106-EBDA-2BDC2F9B4323}"/>
          </ac:picMkLst>
        </pc:picChg>
        <pc:cxnChg chg="add mod">
          <ac:chgData name="vamsi vallepu" userId="f9b9436ef6fb9761" providerId="LiveId" clId="{188BEA17-F514-4CC3-983E-1C3A31F07CAF}" dt="2024-04-16T16:31:09.724" v="634" actId="13822"/>
          <ac:cxnSpMkLst>
            <pc:docMk/>
            <pc:sldMk cId="0" sldId="256"/>
            <ac:cxnSpMk id="31" creationId="{C488BAB5-23D4-1D02-BC5F-D318585AD2F3}"/>
          </ac:cxnSpMkLst>
        </pc:cxnChg>
        <pc:cxnChg chg="del mod">
          <ac:chgData name="vamsi vallepu" userId="f9b9436ef6fb9761" providerId="LiveId" clId="{188BEA17-F514-4CC3-983E-1C3A31F07CAF}" dt="2024-04-16T15:32:18.526" v="35" actId="478"/>
          <ac:cxnSpMkLst>
            <pc:docMk/>
            <pc:sldMk cId="0" sldId="256"/>
            <ac:cxnSpMk id="40" creationId="{00000000-0000-0000-0000-000000000000}"/>
          </ac:cxnSpMkLst>
        </pc:cxnChg>
        <pc:cxnChg chg="del mod">
          <ac:chgData name="vamsi vallepu" userId="f9b9436ef6fb9761" providerId="LiveId" clId="{188BEA17-F514-4CC3-983E-1C3A31F07CAF}" dt="2024-04-16T15:32:15.389" v="34" actId="478"/>
          <ac:cxnSpMkLst>
            <pc:docMk/>
            <pc:sldMk cId="0" sldId="256"/>
            <ac:cxnSpMk id="43" creationId="{00000000-0000-0000-0000-000000000000}"/>
          </ac:cxnSpMkLst>
        </pc:cxnChg>
        <pc:cxnChg chg="del mod">
          <ac:chgData name="vamsi vallepu" userId="f9b9436ef6fb9761" providerId="LiveId" clId="{188BEA17-F514-4CC3-983E-1C3A31F07CAF}" dt="2024-04-16T15:32:12.930" v="33" actId="478"/>
          <ac:cxnSpMkLst>
            <pc:docMk/>
            <pc:sldMk cId="0" sldId="256"/>
            <ac:cxnSpMk id="44" creationId="{00000000-0000-0000-0000-000000000000}"/>
          </ac:cxnSpMkLst>
        </pc:cxnChg>
        <pc:cxnChg chg="del mod">
          <ac:chgData name="vamsi vallepu" userId="f9b9436ef6fb9761" providerId="LiveId" clId="{188BEA17-F514-4CC3-983E-1C3A31F07CAF}" dt="2024-04-16T15:32:10.281" v="32" actId="478"/>
          <ac:cxnSpMkLst>
            <pc:docMk/>
            <pc:sldMk cId="0" sldId="256"/>
            <ac:cxnSpMk id="45" creationId="{00000000-0000-0000-0000-000000000000}"/>
          </ac:cxnSpMkLst>
        </pc:cxnChg>
        <pc:cxnChg chg="del">
          <ac:chgData name="vamsi vallepu" userId="f9b9436ef6fb9761" providerId="LiveId" clId="{188BEA17-F514-4CC3-983E-1C3A31F07CAF}" dt="2024-04-16T15:32:07.787" v="31" actId="478"/>
          <ac:cxnSpMkLst>
            <pc:docMk/>
            <pc:sldMk cId="0" sldId="256"/>
            <ac:cxnSpMk id="46" creationId="{00000000-0000-0000-0000-000000000000}"/>
          </ac:cxnSpMkLst>
        </pc:cxnChg>
        <pc:cxnChg chg="del mod">
          <ac:chgData name="vamsi vallepu" userId="f9b9436ef6fb9761" providerId="LiveId" clId="{188BEA17-F514-4CC3-983E-1C3A31F07CAF}" dt="2024-04-16T15:32:05.255" v="30" actId="478"/>
          <ac:cxnSpMkLst>
            <pc:docMk/>
            <pc:sldMk cId="0" sldId="256"/>
            <ac:cxnSpMk id="47" creationId="{00000000-0000-0000-0000-000000000000}"/>
          </ac:cxnSpMkLst>
        </pc:cxnChg>
        <pc:cxnChg chg="add mod">
          <ac:chgData name="vamsi vallepu" userId="f9b9436ef6fb9761" providerId="LiveId" clId="{188BEA17-F514-4CC3-983E-1C3A31F07CAF}" dt="2024-04-16T16:31:16.655" v="635" actId="13822"/>
          <ac:cxnSpMkLst>
            <pc:docMk/>
            <pc:sldMk cId="0" sldId="256"/>
            <ac:cxnSpMk id="52" creationId="{BE581641-87B7-5388-E0DD-6C9B78B4F28A}"/>
          </ac:cxnSpMkLst>
        </pc:cxnChg>
        <pc:cxnChg chg="add mod">
          <ac:chgData name="vamsi vallepu" userId="f9b9436ef6fb9761" providerId="LiveId" clId="{188BEA17-F514-4CC3-983E-1C3A31F07CAF}" dt="2024-04-16T16:31:26.959" v="637" actId="13822"/>
          <ac:cxnSpMkLst>
            <pc:docMk/>
            <pc:sldMk cId="0" sldId="256"/>
            <ac:cxnSpMk id="58" creationId="{CA87AFBB-7A19-700D-EB3A-866FFEE740DB}"/>
          </ac:cxnSpMkLst>
        </pc:cxnChg>
        <pc:cxnChg chg="add mod">
          <ac:chgData name="vamsi vallepu" userId="f9b9436ef6fb9761" providerId="LiveId" clId="{188BEA17-F514-4CC3-983E-1C3A31F07CAF}" dt="2024-04-16T16:31:21.708" v="636" actId="13822"/>
          <ac:cxnSpMkLst>
            <pc:docMk/>
            <pc:sldMk cId="0" sldId="256"/>
            <ac:cxnSpMk id="60" creationId="{402E4CB1-75E0-2677-169E-20ACE4821A5F}"/>
          </ac:cxnSpMkLst>
        </pc:cxnChg>
        <pc:cxnChg chg="add mod">
          <ac:chgData name="vamsi vallepu" userId="f9b9436ef6fb9761" providerId="LiveId" clId="{188BEA17-F514-4CC3-983E-1C3A31F07CAF}" dt="2024-04-16T16:31:34.229" v="638" actId="13822"/>
          <ac:cxnSpMkLst>
            <pc:docMk/>
            <pc:sldMk cId="0" sldId="256"/>
            <ac:cxnSpMk id="1025" creationId="{6B902304-E64F-AFF9-A20C-27006C42D07F}"/>
          </ac:cxnSpMkLst>
        </pc:cxnChg>
        <pc:cxnChg chg="add mod">
          <ac:chgData name="vamsi vallepu" userId="f9b9436ef6fb9761" providerId="LiveId" clId="{188BEA17-F514-4CC3-983E-1C3A31F07CAF}" dt="2024-04-16T16:31:39.538" v="639" actId="13822"/>
          <ac:cxnSpMkLst>
            <pc:docMk/>
            <pc:sldMk cId="0" sldId="256"/>
            <ac:cxnSpMk id="1028" creationId="{D01F83E5-96D3-8515-6024-7E8820050E88}"/>
          </ac:cxnSpMkLst>
        </pc:cxnChg>
        <pc:cxnChg chg="add mod">
          <ac:chgData name="vamsi vallepu" userId="f9b9436ef6fb9761" providerId="LiveId" clId="{188BEA17-F514-4CC3-983E-1C3A31F07CAF}" dt="2024-04-16T16:31:51.579" v="641" actId="14100"/>
          <ac:cxnSpMkLst>
            <pc:docMk/>
            <pc:sldMk cId="0" sldId="256"/>
            <ac:cxnSpMk id="1034" creationId="{7BA14344-0935-EC93-4049-46ABBD23A15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17-04-2024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17-04-2024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17-04-2024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17-04-2024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17-04-2024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17-04-2024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17-04-2024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17-04-2024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17-04-2024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17-04-2024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17-04-2024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17-04-2024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002" y="3978186"/>
            <a:ext cx="21571523"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r>
              <a:rPr lang="en-IN" sz="1791" dirty="0"/>
              <a:t>                                                                  </a:t>
            </a:r>
          </a:p>
        </p:txBody>
      </p:sp>
      <p:sp>
        <p:nvSpPr>
          <p:cNvPr id="5" name="Rectangle 4"/>
          <p:cNvSpPr/>
          <p:nvPr/>
        </p:nvSpPr>
        <p:spPr>
          <a:xfrm>
            <a:off x="14000" y="9932465"/>
            <a:ext cx="21599525" cy="5796133"/>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2190" dirty="0">
              <a:latin typeface="Times New Roman" panose="02020603050405020304" pitchFamily="18" charset="0"/>
              <a:cs typeface="Times New Roman" panose="02020603050405020304" pitchFamily="18" charset="0"/>
            </a:endParaRPr>
          </a:p>
        </p:txBody>
      </p:sp>
      <p:sp>
        <p:nvSpPr>
          <p:cNvPr id="6" name="Rectangle 5"/>
          <p:cNvSpPr/>
          <p:nvPr/>
        </p:nvSpPr>
        <p:spPr>
          <a:xfrm>
            <a:off x="-12911" y="15728297"/>
            <a:ext cx="21599525" cy="6283988"/>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42228" y="21968050"/>
            <a:ext cx="21684935"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8251" y="27346472"/>
            <a:ext cx="21670008" cy="5578746"/>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12911" y="4027318"/>
            <a:ext cx="425842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30970" y="2522585"/>
            <a:ext cx="2156855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12911" y="15762422"/>
            <a:ext cx="245486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2911" y="22038195"/>
            <a:ext cx="616987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6107" y="27347872"/>
            <a:ext cx="3793894"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28002" y="2554293"/>
            <a:ext cx="21529294" cy="1197251"/>
          </a:xfrm>
          <a:prstGeom prst="rect">
            <a:avLst/>
          </a:prstGeom>
          <a:noFill/>
        </p:spPr>
        <p:txBody>
          <a:bodyPr wrap="square" rtlCol="0">
            <a:spAutoFit/>
          </a:bodyPr>
          <a:lstStyle/>
          <a:p>
            <a:r>
              <a:rPr lang="en-IN" sz="3590" kern="1400" spc="-50" dirty="0">
                <a:effectLst/>
                <a:latin typeface="Times New Roman" panose="02020603050405020304" pitchFamily="18" charset="0"/>
                <a:ea typeface="Times New Roman" panose="02020603050405020304" pitchFamily="18" charset="0"/>
                <a:cs typeface="Times New Roman" panose="02020603050405020304" pitchFamily="18" charset="0"/>
              </a:rPr>
              <a:t>Short time task management system for increasing productivity by using priority scheduling comparing with first come first sreve (FCFS).</a:t>
            </a:r>
          </a:p>
        </p:txBody>
      </p:sp>
      <p:sp>
        <p:nvSpPr>
          <p:cNvPr id="20" name="Rectangle 19"/>
          <p:cNvSpPr/>
          <p:nvPr/>
        </p:nvSpPr>
        <p:spPr>
          <a:xfrm>
            <a:off x="25137" y="10020345"/>
            <a:ext cx="646710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31209" y="4047661"/>
            <a:ext cx="14870181" cy="6423682"/>
          </a:xfrm>
          <a:prstGeom prst="rect">
            <a:avLst/>
          </a:prstGeom>
          <a:noFill/>
        </p:spPr>
        <p:txBody>
          <a:bodyPr wrap="square" rtlCol="0">
            <a:spAutoFit/>
          </a:bodyPr>
          <a:lstStyle/>
          <a:p>
            <a:pPr marL="12065" marR="5715" algn="just">
              <a:lnSpc>
                <a:spcPct val="103899"/>
              </a:lnSpc>
              <a:spcBef>
                <a:spcPts val="90"/>
              </a:spcBef>
              <a:tabLst>
                <a:tab pos="118110" algn="l"/>
              </a:tabLst>
            </a:pPr>
            <a:endParaRPr lang="en-US" sz="2190" spc="10" dirty="0">
              <a:latin typeface="Times New Roman"/>
              <a:cs typeface="Times New Roman"/>
            </a:endParaRPr>
          </a:p>
          <a:p>
            <a:pPr marL="12065" marR="5715" algn="just">
              <a:lnSpc>
                <a:spcPct val="103899"/>
              </a:lnSpc>
              <a:spcBef>
                <a:spcPts val="90"/>
              </a:spcBef>
              <a:tabLst>
                <a:tab pos="118110" algn="l"/>
              </a:tabLst>
            </a:pPr>
            <a:endParaRPr lang="en-US" sz="2190" spc="10" dirty="0">
              <a:latin typeface="Times New Roman"/>
              <a:cs typeface="Times New Roman"/>
            </a:endParaRPr>
          </a:p>
          <a:p>
            <a:pPr marL="354965" marR="5715" indent="-342900" algn="just">
              <a:lnSpc>
                <a:spcPct val="103899"/>
              </a:lnSpc>
              <a:spcBef>
                <a:spcPts val="90"/>
              </a:spcBef>
              <a:buFont typeface="Wingdings" panose="05000000000000000000" pitchFamily="2" charset="2"/>
              <a:buChar char="Ø"/>
              <a:tabLst>
                <a:tab pos="118110" algn="l"/>
              </a:tabLst>
            </a:pPr>
            <a:r>
              <a:rPr lang="en-US" sz="2190" spc="10" dirty="0">
                <a:latin typeface="Times New Roman" panose="02020603050405020304" pitchFamily="18" charset="0"/>
                <a:cs typeface="Times New Roman" panose="02020603050405020304" pitchFamily="18" charset="0"/>
              </a:rPr>
              <a:t>While </a:t>
            </a:r>
            <a:r>
              <a:rPr lang="en-US" sz="2190" spc="5" dirty="0">
                <a:latin typeface="Times New Roman" panose="02020603050405020304" pitchFamily="18" charset="0"/>
                <a:cs typeface="Times New Roman" panose="02020603050405020304" pitchFamily="18" charset="0"/>
              </a:rPr>
              <a:t>first-come-first-serve </a:t>
            </a:r>
            <a:r>
              <a:rPr lang="en-US" sz="2190" spc="15" dirty="0">
                <a:latin typeface="Times New Roman" panose="02020603050405020304" pitchFamily="18" charset="0"/>
                <a:cs typeface="Times New Roman" panose="02020603050405020304" pitchFamily="18" charset="0"/>
              </a:rPr>
              <a:t>may </a:t>
            </a:r>
            <a:r>
              <a:rPr lang="en-US" sz="2190" spc="5" dirty="0">
                <a:latin typeface="Times New Roman" panose="02020603050405020304" pitchFamily="18" charset="0"/>
                <a:cs typeface="Times New Roman" panose="02020603050405020304" pitchFamily="18" charset="0"/>
              </a:rPr>
              <a:t>seem straightforward, it often fails to account for the varying levels of urgency </a:t>
            </a:r>
            <a:r>
              <a:rPr lang="en-US" sz="2190" spc="10" dirty="0">
                <a:latin typeface="Times New Roman" panose="02020603050405020304" pitchFamily="18" charset="0"/>
                <a:cs typeface="Times New Roman" panose="02020603050405020304" pitchFamily="18" charset="0"/>
              </a:rPr>
              <a:t>and </a:t>
            </a:r>
            <a:r>
              <a:rPr lang="en-US" sz="2190" spc="15" dirty="0">
                <a:latin typeface="Times New Roman" panose="02020603050405020304" pitchFamily="18" charset="0"/>
                <a:cs typeface="Times New Roman" panose="02020603050405020304" pitchFamily="18" charset="0"/>
              </a:rPr>
              <a:t> </a:t>
            </a:r>
            <a:r>
              <a:rPr lang="en-US" sz="2190" spc="5" dirty="0">
                <a:latin typeface="Times New Roman" panose="02020603050405020304" pitchFamily="18" charset="0"/>
                <a:cs typeface="Times New Roman" panose="02020603050405020304" pitchFamily="18" charset="0"/>
              </a:rPr>
              <a:t>importance inherent </a:t>
            </a:r>
            <a:r>
              <a:rPr lang="en-US" sz="2190" spc="10" dirty="0">
                <a:latin typeface="Times New Roman" panose="02020603050405020304" pitchFamily="18" charset="0"/>
                <a:cs typeface="Times New Roman" panose="02020603050405020304" pitchFamily="18" charset="0"/>
              </a:rPr>
              <a:t>in </a:t>
            </a:r>
            <a:r>
              <a:rPr lang="en-US" sz="2190" spc="5" dirty="0">
                <a:latin typeface="Times New Roman" panose="02020603050405020304" pitchFamily="18" charset="0"/>
                <a:cs typeface="Times New Roman" panose="02020603050405020304" pitchFamily="18" charset="0"/>
              </a:rPr>
              <a:t>tasks. </a:t>
            </a:r>
          </a:p>
          <a:p>
            <a:pPr marL="117475" marR="5715" indent="-105410" algn="just">
              <a:lnSpc>
                <a:spcPct val="103899"/>
              </a:lnSpc>
              <a:spcBef>
                <a:spcPts val="90"/>
              </a:spcBef>
              <a:buFont typeface="Wingdings"/>
              <a:buChar char=""/>
              <a:tabLst>
                <a:tab pos="118110" algn="l"/>
              </a:tabLst>
            </a:pPr>
            <a:r>
              <a:rPr lang="en-US" sz="2190" spc="15" dirty="0">
                <a:latin typeface="Times New Roman" panose="02020603050405020304" pitchFamily="18" charset="0"/>
                <a:cs typeface="Times New Roman" panose="02020603050405020304" pitchFamily="18" charset="0"/>
              </a:rPr>
              <a:t>By </a:t>
            </a:r>
            <a:r>
              <a:rPr lang="en-US" sz="2190" spc="5" dirty="0">
                <a:latin typeface="Times New Roman" panose="02020603050405020304" pitchFamily="18" charset="0"/>
                <a:cs typeface="Times New Roman" panose="02020603050405020304" pitchFamily="18" charset="0"/>
              </a:rPr>
              <a:t>prioritizing tasks </a:t>
            </a:r>
            <a:r>
              <a:rPr lang="en-US" sz="2190" dirty="0">
                <a:latin typeface="Times New Roman" panose="02020603050405020304" pitchFamily="18" charset="0"/>
                <a:cs typeface="Times New Roman" panose="02020603050405020304" pitchFamily="18" charset="0"/>
              </a:rPr>
              <a:t>effectively, </a:t>
            </a:r>
            <a:r>
              <a:rPr lang="en-US" sz="2190" spc="5" dirty="0">
                <a:latin typeface="Times New Roman" panose="02020603050405020304" pitchFamily="18" charset="0"/>
                <a:cs typeface="Times New Roman" panose="02020603050405020304" pitchFamily="18" charset="0"/>
              </a:rPr>
              <a:t>users can </a:t>
            </a:r>
            <a:r>
              <a:rPr lang="en-US" sz="2190" dirty="0">
                <a:latin typeface="Times New Roman" panose="02020603050405020304" pitchFamily="18" charset="0"/>
                <a:cs typeface="Times New Roman" panose="02020603050405020304" pitchFamily="18" charset="0"/>
              </a:rPr>
              <a:t>ensure that </a:t>
            </a:r>
            <a:r>
              <a:rPr lang="en-US" sz="2190" spc="5" dirty="0">
                <a:latin typeface="Times New Roman" panose="02020603050405020304" pitchFamily="18" charset="0"/>
                <a:cs typeface="Times New Roman" panose="02020603050405020304" pitchFamily="18" charset="0"/>
              </a:rPr>
              <a:t>critical deadlines are </a:t>
            </a:r>
            <a:r>
              <a:rPr lang="en-US" sz="2190" spc="10" dirty="0">
                <a:latin typeface="Times New Roman" panose="02020603050405020304" pitchFamily="18" charset="0"/>
                <a:cs typeface="Times New Roman" panose="02020603050405020304" pitchFamily="18" charset="0"/>
              </a:rPr>
              <a:t>met </a:t>
            </a:r>
            <a:r>
              <a:rPr lang="en-US" sz="2190" spc="5" dirty="0">
                <a:latin typeface="Times New Roman" panose="02020603050405020304" pitchFamily="18" charset="0"/>
                <a:cs typeface="Times New Roman" panose="02020603050405020304" pitchFamily="18" charset="0"/>
              </a:rPr>
              <a:t>without </a:t>
            </a:r>
            <a:r>
              <a:rPr lang="en-US" sz="2190" spc="10" dirty="0">
                <a:latin typeface="Times New Roman" panose="02020603050405020304" pitchFamily="18" charset="0"/>
                <a:cs typeface="Times New Roman" panose="02020603050405020304" pitchFamily="18" charset="0"/>
              </a:rPr>
              <a:t> </a:t>
            </a:r>
            <a:r>
              <a:rPr lang="en-US" sz="2190" spc="5" dirty="0">
                <a:latin typeface="Times New Roman" panose="02020603050405020304" pitchFamily="18" charset="0"/>
                <a:cs typeface="Times New Roman" panose="02020603050405020304" pitchFamily="18" charset="0"/>
              </a:rPr>
              <a:t>sacrificing</a:t>
            </a:r>
            <a:r>
              <a:rPr lang="en-US" sz="2190" spc="-15" dirty="0">
                <a:latin typeface="Times New Roman" panose="02020603050405020304" pitchFamily="18" charset="0"/>
                <a:cs typeface="Times New Roman" panose="02020603050405020304" pitchFamily="18" charset="0"/>
              </a:rPr>
              <a:t> </a:t>
            </a:r>
            <a:r>
              <a:rPr lang="en-US" sz="2190" dirty="0">
                <a:latin typeface="Times New Roman" panose="02020603050405020304" pitchFamily="18" charset="0"/>
                <a:cs typeface="Times New Roman" panose="02020603050405020304" pitchFamily="18" charset="0"/>
              </a:rPr>
              <a:t>productivity.</a:t>
            </a:r>
          </a:p>
          <a:p>
            <a:pPr marL="117475" marR="5715" indent="-105410" algn="just">
              <a:lnSpc>
                <a:spcPct val="103800"/>
              </a:lnSpc>
              <a:buFont typeface="Wingdings"/>
              <a:buChar char=""/>
              <a:tabLst>
                <a:tab pos="118110" algn="l"/>
              </a:tabLst>
            </a:pPr>
            <a:r>
              <a:rPr lang="en-US" sz="2190" dirty="0">
                <a:solidFill>
                  <a:srgbClr val="0C0C0C"/>
                </a:solidFill>
                <a:latin typeface="Times New Roman" panose="02020603050405020304" pitchFamily="18" charset="0"/>
                <a:cs typeface="Times New Roman" panose="02020603050405020304" pitchFamily="18" charset="0"/>
              </a:rPr>
              <a:t>Moreover, </a:t>
            </a:r>
            <a:r>
              <a:rPr lang="en-US" sz="2190" spc="5" dirty="0">
                <a:solidFill>
                  <a:srgbClr val="0C0C0C"/>
                </a:solidFill>
                <a:latin typeface="Times New Roman" panose="02020603050405020304" pitchFamily="18" charset="0"/>
                <a:cs typeface="Times New Roman" panose="02020603050405020304" pitchFamily="18" charset="0"/>
              </a:rPr>
              <a:t>our </a:t>
            </a:r>
            <a:r>
              <a:rPr lang="en-US" sz="2190" dirty="0">
                <a:solidFill>
                  <a:srgbClr val="0C0C0C"/>
                </a:solidFill>
                <a:latin typeface="Times New Roman" panose="02020603050405020304" pitchFamily="18" charset="0"/>
                <a:cs typeface="Times New Roman" panose="02020603050405020304" pitchFamily="18" charset="0"/>
              </a:rPr>
              <a:t>system offers </a:t>
            </a:r>
            <a:r>
              <a:rPr lang="en-US" sz="2190" spc="5" dirty="0">
                <a:solidFill>
                  <a:srgbClr val="0C0C0C"/>
                </a:solidFill>
                <a:latin typeface="Times New Roman" panose="02020603050405020304" pitchFamily="18" charset="0"/>
                <a:cs typeface="Times New Roman" panose="02020603050405020304" pitchFamily="18" charset="0"/>
              </a:rPr>
              <a:t>unparalleled </a:t>
            </a:r>
            <a:r>
              <a:rPr lang="en-US" sz="2190" dirty="0">
                <a:solidFill>
                  <a:srgbClr val="0C0C0C"/>
                </a:solidFill>
                <a:latin typeface="Times New Roman" panose="02020603050405020304" pitchFamily="18" charset="0"/>
                <a:cs typeface="Times New Roman" panose="02020603050405020304" pitchFamily="18" charset="0"/>
              </a:rPr>
              <a:t>flexibility, </a:t>
            </a:r>
            <a:r>
              <a:rPr lang="en-US" sz="2190" spc="5" dirty="0">
                <a:solidFill>
                  <a:srgbClr val="0C0C0C"/>
                </a:solidFill>
                <a:latin typeface="Times New Roman" panose="02020603050405020304" pitchFamily="18" charset="0"/>
                <a:cs typeface="Times New Roman" panose="02020603050405020304" pitchFamily="18" charset="0"/>
              </a:rPr>
              <a:t>allowing </a:t>
            </a:r>
            <a:r>
              <a:rPr lang="en-US" sz="2190" dirty="0">
                <a:solidFill>
                  <a:srgbClr val="0C0C0C"/>
                </a:solidFill>
                <a:latin typeface="Times New Roman" panose="02020603050405020304" pitchFamily="18" charset="0"/>
                <a:cs typeface="Times New Roman" panose="02020603050405020304" pitchFamily="18" charset="0"/>
              </a:rPr>
              <a:t>users </a:t>
            </a:r>
            <a:r>
              <a:rPr lang="en-US" sz="2190" spc="-5" dirty="0">
                <a:solidFill>
                  <a:srgbClr val="0C0C0C"/>
                </a:solidFill>
                <a:latin typeface="Times New Roman" panose="02020603050405020304" pitchFamily="18" charset="0"/>
                <a:cs typeface="Times New Roman" panose="02020603050405020304" pitchFamily="18" charset="0"/>
              </a:rPr>
              <a:t>to </a:t>
            </a:r>
            <a:r>
              <a:rPr lang="en-US" sz="2190" spc="5" dirty="0">
                <a:solidFill>
                  <a:srgbClr val="0C0C0C"/>
                </a:solidFill>
                <a:latin typeface="Times New Roman" panose="02020603050405020304" pitchFamily="18" charset="0"/>
                <a:cs typeface="Times New Roman" panose="02020603050405020304" pitchFamily="18" charset="0"/>
              </a:rPr>
              <a:t>adapt their </a:t>
            </a:r>
            <a:r>
              <a:rPr lang="en-US" sz="2190" dirty="0">
                <a:solidFill>
                  <a:srgbClr val="0C0C0C"/>
                </a:solidFill>
                <a:latin typeface="Times New Roman" panose="02020603050405020304" pitchFamily="18" charset="0"/>
                <a:cs typeface="Times New Roman" panose="02020603050405020304" pitchFamily="18" charset="0"/>
              </a:rPr>
              <a:t>task </a:t>
            </a:r>
            <a:r>
              <a:rPr lang="en-US" sz="2190" spc="5" dirty="0">
                <a:solidFill>
                  <a:srgbClr val="0C0C0C"/>
                </a:solidFill>
                <a:latin typeface="Times New Roman" panose="02020603050405020304" pitchFamily="18" charset="0"/>
                <a:cs typeface="Times New Roman" panose="02020603050405020304" pitchFamily="18" charset="0"/>
              </a:rPr>
              <a:t>management approach </a:t>
            </a:r>
            <a:r>
              <a:rPr lang="en-US" sz="2190" dirty="0">
                <a:solidFill>
                  <a:srgbClr val="0C0C0C"/>
                </a:solidFill>
                <a:latin typeface="Times New Roman" panose="02020603050405020304" pitchFamily="18" charset="0"/>
                <a:cs typeface="Times New Roman" panose="02020603050405020304" pitchFamily="18" charset="0"/>
              </a:rPr>
              <a:t>based </a:t>
            </a:r>
            <a:r>
              <a:rPr lang="en-US" sz="2190" spc="10" dirty="0">
                <a:solidFill>
                  <a:srgbClr val="0C0C0C"/>
                </a:solidFill>
                <a:latin typeface="Times New Roman" panose="02020603050405020304" pitchFamily="18" charset="0"/>
                <a:cs typeface="Times New Roman" panose="02020603050405020304" pitchFamily="18" charset="0"/>
              </a:rPr>
              <a:t>on </a:t>
            </a:r>
            <a:r>
              <a:rPr lang="en-US" sz="2190" spc="15" dirty="0">
                <a:solidFill>
                  <a:srgbClr val="0C0C0C"/>
                </a:solidFill>
                <a:latin typeface="Times New Roman" panose="02020603050405020304" pitchFamily="18" charset="0"/>
                <a:cs typeface="Times New Roman" panose="02020603050405020304" pitchFamily="18" charset="0"/>
              </a:rPr>
              <a:t> </a:t>
            </a:r>
            <a:r>
              <a:rPr lang="en-US" sz="2190" spc="5" dirty="0">
                <a:solidFill>
                  <a:srgbClr val="0C0C0C"/>
                </a:solidFill>
                <a:latin typeface="Times New Roman" panose="02020603050405020304" pitchFamily="18" charset="0"/>
                <a:cs typeface="Times New Roman" panose="02020603050405020304" pitchFamily="18" charset="0"/>
              </a:rPr>
              <a:t>changing</a:t>
            </a:r>
            <a:r>
              <a:rPr lang="en-US" sz="2190" spc="10" dirty="0">
                <a:solidFill>
                  <a:srgbClr val="0C0C0C"/>
                </a:solidFill>
                <a:latin typeface="Times New Roman" panose="02020603050405020304" pitchFamily="18" charset="0"/>
                <a:cs typeface="Times New Roman" panose="02020603050405020304" pitchFamily="18" charset="0"/>
              </a:rPr>
              <a:t> </a:t>
            </a:r>
            <a:r>
              <a:rPr lang="en-US" sz="2190" dirty="0">
                <a:solidFill>
                  <a:srgbClr val="0C0C0C"/>
                </a:solidFill>
                <a:latin typeface="Times New Roman" panose="02020603050405020304" pitchFamily="18" charset="0"/>
                <a:cs typeface="Times New Roman" panose="02020603050405020304" pitchFamily="18" charset="0"/>
              </a:rPr>
              <a:t>circumstances.</a:t>
            </a:r>
          </a:p>
          <a:p>
            <a:pPr marL="117475" marR="5715" indent="-105410" algn="just">
              <a:lnSpc>
                <a:spcPct val="103800"/>
              </a:lnSpc>
              <a:buFont typeface="Wingdings"/>
              <a:buChar char=""/>
              <a:tabLst>
                <a:tab pos="118110" algn="l"/>
              </a:tabLst>
            </a:pPr>
            <a:r>
              <a:rPr lang="en-US" sz="2190" spc="5" dirty="0">
                <a:solidFill>
                  <a:srgbClr val="0C0C0C"/>
                </a:solidFill>
                <a:latin typeface="Times New Roman" panose="02020603050405020304" pitchFamily="18" charset="0"/>
                <a:cs typeface="Times New Roman" panose="02020603050405020304" pitchFamily="18" charset="0"/>
              </a:rPr>
              <a:t> our</a:t>
            </a:r>
            <a:r>
              <a:rPr lang="en-US" sz="2190" spc="10" dirty="0">
                <a:solidFill>
                  <a:srgbClr val="0C0C0C"/>
                </a:solidFill>
                <a:latin typeface="Times New Roman" panose="02020603050405020304" pitchFamily="18" charset="0"/>
                <a:cs typeface="Times New Roman" panose="02020603050405020304" pitchFamily="18" charset="0"/>
              </a:rPr>
              <a:t> </a:t>
            </a:r>
            <a:r>
              <a:rPr lang="en-US" sz="2190" spc="5" dirty="0">
                <a:solidFill>
                  <a:srgbClr val="0C0C0C"/>
                </a:solidFill>
                <a:latin typeface="Times New Roman" panose="02020603050405020304" pitchFamily="18" charset="0"/>
                <a:cs typeface="Times New Roman" panose="02020603050405020304" pitchFamily="18" charset="0"/>
              </a:rPr>
              <a:t>platform</a:t>
            </a:r>
            <a:r>
              <a:rPr lang="en-US" sz="2190" spc="10" dirty="0">
                <a:solidFill>
                  <a:srgbClr val="0C0C0C"/>
                </a:solidFill>
                <a:latin typeface="Times New Roman" panose="02020603050405020304" pitchFamily="18" charset="0"/>
                <a:cs typeface="Times New Roman" panose="02020603050405020304" pitchFamily="18" charset="0"/>
              </a:rPr>
              <a:t> </a:t>
            </a:r>
            <a:r>
              <a:rPr lang="en-US" sz="2190" spc="5" dirty="0">
                <a:solidFill>
                  <a:srgbClr val="0C0C0C"/>
                </a:solidFill>
                <a:latin typeface="Times New Roman" panose="02020603050405020304" pitchFamily="18" charset="0"/>
                <a:cs typeface="Times New Roman" panose="02020603050405020304" pitchFamily="18" charset="0"/>
              </a:rPr>
              <a:t>empowers</a:t>
            </a:r>
            <a:r>
              <a:rPr lang="en-US" sz="2190" spc="10" dirty="0">
                <a:solidFill>
                  <a:srgbClr val="0C0C0C"/>
                </a:solidFill>
                <a:latin typeface="Times New Roman" panose="02020603050405020304" pitchFamily="18" charset="0"/>
                <a:cs typeface="Times New Roman" panose="02020603050405020304" pitchFamily="18" charset="0"/>
              </a:rPr>
              <a:t> </a:t>
            </a:r>
            <a:r>
              <a:rPr lang="en-US" sz="2190" dirty="0">
                <a:solidFill>
                  <a:srgbClr val="0C0C0C"/>
                </a:solidFill>
                <a:latin typeface="Times New Roman" panose="02020603050405020304" pitchFamily="18" charset="0"/>
                <a:cs typeface="Times New Roman" panose="02020603050405020304" pitchFamily="18" charset="0"/>
              </a:rPr>
              <a:t>users</a:t>
            </a:r>
            <a:r>
              <a:rPr lang="en-US" sz="2190" spc="5" dirty="0">
                <a:solidFill>
                  <a:srgbClr val="0C0C0C"/>
                </a:solidFill>
                <a:latin typeface="Times New Roman" panose="02020603050405020304" pitchFamily="18" charset="0"/>
                <a:cs typeface="Times New Roman" panose="02020603050405020304" pitchFamily="18" charset="0"/>
              </a:rPr>
              <a:t> </a:t>
            </a:r>
            <a:r>
              <a:rPr lang="en-US" sz="2190" spc="-5" dirty="0">
                <a:solidFill>
                  <a:srgbClr val="0C0C0C"/>
                </a:solidFill>
                <a:latin typeface="Times New Roman" panose="02020603050405020304" pitchFamily="18" charset="0"/>
                <a:cs typeface="Times New Roman" panose="02020603050405020304" pitchFamily="18" charset="0"/>
              </a:rPr>
              <a:t>to</a:t>
            </a:r>
            <a:r>
              <a:rPr lang="en-US" sz="2190" dirty="0">
                <a:solidFill>
                  <a:srgbClr val="0C0C0C"/>
                </a:solidFill>
                <a:latin typeface="Times New Roman" panose="02020603050405020304" pitchFamily="18" charset="0"/>
                <a:cs typeface="Times New Roman" panose="02020603050405020304" pitchFamily="18" charset="0"/>
              </a:rPr>
              <a:t> </a:t>
            </a:r>
            <a:r>
              <a:rPr lang="en-US" sz="2190" spc="5" dirty="0">
                <a:solidFill>
                  <a:srgbClr val="0C0C0C"/>
                </a:solidFill>
                <a:latin typeface="Times New Roman" panose="02020603050405020304" pitchFamily="18" charset="0"/>
                <a:cs typeface="Times New Roman" panose="02020603050405020304" pitchFamily="18" charset="0"/>
              </a:rPr>
              <a:t>make  informed  </a:t>
            </a:r>
            <a:r>
              <a:rPr lang="en-US" sz="2190" dirty="0">
                <a:solidFill>
                  <a:srgbClr val="0C0C0C"/>
                </a:solidFill>
                <a:latin typeface="Times New Roman" panose="02020603050405020304" pitchFamily="18" charset="0"/>
                <a:cs typeface="Times New Roman" panose="02020603050405020304" pitchFamily="18" charset="0"/>
              </a:rPr>
              <a:t>decisions</a:t>
            </a:r>
            <a:r>
              <a:rPr lang="en-US" sz="2190" spc="150" dirty="0">
                <a:solidFill>
                  <a:srgbClr val="0C0C0C"/>
                </a:solidFill>
                <a:latin typeface="Times New Roman" panose="02020603050405020304" pitchFamily="18" charset="0"/>
                <a:cs typeface="Times New Roman" panose="02020603050405020304" pitchFamily="18" charset="0"/>
              </a:rPr>
              <a:t> </a:t>
            </a:r>
            <a:r>
              <a:rPr lang="en-US" sz="2190" spc="10" dirty="0">
                <a:solidFill>
                  <a:srgbClr val="0C0C0C"/>
                </a:solidFill>
                <a:latin typeface="Times New Roman" panose="02020603050405020304" pitchFamily="18" charset="0"/>
                <a:cs typeface="Times New Roman" panose="02020603050405020304" pitchFamily="18" charset="0"/>
              </a:rPr>
              <a:t>and  </a:t>
            </a:r>
            <a:r>
              <a:rPr lang="en-US" sz="2190" dirty="0">
                <a:solidFill>
                  <a:srgbClr val="0C0C0C"/>
                </a:solidFill>
                <a:latin typeface="Times New Roman" panose="02020603050405020304" pitchFamily="18" charset="0"/>
                <a:cs typeface="Times New Roman" panose="02020603050405020304" pitchFamily="18" charset="0"/>
              </a:rPr>
              <a:t>allocate</a:t>
            </a:r>
            <a:r>
              <a:rPr lang="en-US" sz="2190" spc="150" dirty="0">
                <a:solidFill>
                  <a:srgbClr val="0C0C0C"/>
                </a:solidFill>
                <a:latin typeface="Times New Roman" panose="02020603050405020304" pitchFamily="18" charset="0"/>
                <a:cs typeface="Times New Roman" panose="02020603050405020304" pitchFamily="18" charset="0"/>
              </a:rPr>
              <a:t> </a:t>
            </a:r>
            <a:r>
              <a:rPr lang="en-US" sz="2190" spc="5" dirty="0">
                <a:solidFill>
                  <a:srgbClr val="0C0C0C"/>
                </a:solidFill>
                <a:latin typeface="Times New Roman" panose="02020603050405020304" pitchFamily="18" charset="0"/>
                <a:cs typeface="Times New Roman" panose="02020603050405020304" pitchFamily="18" charset="0"/>
              </a:rPr>
              <a:t>their  </a:t>
            </a:r>
            <a:r>
              <a:rPr lang="en-US" sz="2190" dirty="0">
                <a:solidFill>
                  <a:srgbClr val="0C0C0C"/>
                </a:solidFill>
                <a:latin typeface="Times New Roman" panose="02020603050405020304" pitchFamily="18" charset="0"/>
                <a:cs typeface="Times New Roman" panose="02020603050405020304" pitchFamily="18" charset="0"/>
              </a:rPr>
              <a:t>resources </a:t>
            </a:r>
            <a:r>
              <a:rPr lang="en-US" sz="2190" spc="5" dirty="0">
                <a:solidFill>
                  <a:srgbClr val="0C0C0C"/>
                </a:solidFill>
                <a:latin typeface="Times New Roman" panose="02020603050405020304" pitchFamily="18" charset="0"/>
                <a:cs typeface="Times New Roman" panose="02020603050405020304" pitchFamily="18" charset="0"/>
              </a:rPr>
              <a:t> </a:t>
            </a:r>
            <a:r>
              <a:rPr lang="en-US" sz="2190" dirty="0">
                <a:solidFill>
                  <a:srgbClr val="0C0C0C"/>
                </a:solidFill>
                <a:latin typeface="Times New Roman" panose="02020603050405020304" pitchFamily="18" charset="0"/>
                <a:cs typeface="Times New Roman" panose="02020603050405020304" pitchFamily="18" charset="0"/>
              </a:rPr>
              <a:t>strategically.</a:t>
            </a:r>
            <a:endParaRPr lang="en-US" sz="2190" dirty="0">
              <a:latin typeface="Times New Roman" panose="02020603050405020304" pitchFamily="18" charset="0"/>
              <a:cs typeface="Times New Roman" panose="02020603050405020304" pitchFamily="18" charset="0"/>
            </a:endParaRPr>
          </a:p>
          <a:p>
            <a:pPr marL="117475" marR="5080" indent="-105410" algn="just">
              <a:lnSpc>
                <a:spcPct val="103099"/>
              </a:lnSpc>
              <a:buFont typeface="Wingdings"/>
              <a:buChar char=""/>
              <a:tabLst>
                <a:tab pos="118110" algn="l"/>
              </a:tabLst>
            </a:pPr>
            <a:r>
              <a:rPr lang="en-US" sz="2190" spc="-5" dirty="0">
                <a:latin typeface="Times New Roman" panose="02020603050405020304" pitchFamily="18" charset="0"/>
                <a:cs typeface="Times New Roman" panose="02020603050405020304" pitchFamily="18" charset="0"/>
              </a:rPr>
              <a:t>Tasks</a:t>
            </a:r>
            <a:r>
              <a:rPr lang="en-US" sz="2190" dirty="0">
                <a:latin typeface="Times New Roman" panose="02020603050405020304" pitchFamily="18" charset="0"/>
                <a:cs typeface="Times New Roman" panose="02020603050405020304" pitchFamily="18" charset="0"/>
              </a:rPr>
              <a:t> </a:t>
            </a:r>
            <a:r>
              <a:rPr lang="en-US" sz="2190" spc="5" dirty="0">
                <a:latin typeface="Times New Roman" panose="02020603050405020304" pitchFamily="18" charset="0"/>
                <a:cs typeface="Times New Roman" panose="02020603050405020304" pitchFamily="18" charset="0"/>
              </a:rPr>
              <a:t>with </a:t>
            </a:r>
            <a:r>
              <a:rPr lang="en-US" sz="2190" spc="10" dirty="0">
                <a:latin typeface="Times New Roman" panose="02020603050405020304" pitchFamily="18" charset="0"/>
                <a:cs typeface="Times New Roman" panose="02020603050405020304" pitchFamily="18" charset="0"/>
              </a:rPr>
              <a:t>looming </a:t>
            </a:r>
            <a:r>
              <a:rPr lang="en-US" sz="2190" spc="5" dirty="0">
                <a:latin typeface="Times New Roman" panose="02020603050405020304" pitchFamily="18" charset="0"/>
                <a:cs typeface="Times New Roman" panose="02020603050405020304" pitchFamily="18" charset="0"/>
              </a:rPr>
              <a:t>deadlines </a:t>
            </a:r>
            <a:r>
              <a:rPr lang="en-US" sz="2190" spc="10" dirty="0">
                <a:latin typeface="Times New Roman" panose="02020603050405020304" pitchFamily="18" charset="0"/>
                <a:cs typeface="Times New Roman" panose="02020603050405020304" pitchFamily="18" charset="0"/>
              </a:rPr>
              <a:t>may </a:t>
            </a:r>
            <a:r>
              <a:rPr lang="en-US" sz="2190" spc="5" dirty="0">
                <a:latin typeface="Times New Roman" panose="02020603050405020304" pitchFamily="18" charset="0"/>
                <a:cs typeface="Times New Roman" panose="02020603050405020304" pitchFamily="18" charset="0"/>
              </a:rPr>
              <a:t>get overshadowed </a:t>
            </a:r>
            <a:r>
              <a:rPr lang="en-US" sz="2190" spc="15" dirty="0">
                <a:latin typeface="Times New Roman" panose="02020603050405020304" pitchFamily="18" charset="0"/>
                <a:cs typeface="Times New Roman" panose="02020603050405020304" pitchFamily="18" charset="0"/>
              </a:rPr>
              <a:t>by </a:t>
            </a:r>
            <a:r>
              <a:rPr lang="en-US" sz="2190" spc="5" dirty="0">
                <a:latin typeface="Times New Roman" panose="02020603050405020304" pitchFamily="18" charset="0"/>
                <a:cs typeface="Times New Roman" panose="02020603050405020304" pitchFamily="18" charset="0"/>
              </a:rPr>
              <a:t>less pressing </a:t>
            </a:r>
            <a:r>
              <a:rPr lang="en-US" sz="2190" spc="10" dirty="0">
                <a:latin typeface="Times New Roman" panose="02020603050405020304" pitchFamily="18" charset="0"/>
                <a:cs typeface="Times New Roman" panose="02020603050405020304" pitchFamily="18" charset="0"/>
              </a:rPr>
              <a:t>matters, </a:t>
            </a:r>
            <a:r>
              <a:rPr lang="en-US" sz="2190" spc="5" dirty="0">
                <a:latin typeface="Times New Roman" panose="02020603050405020304" pitchFamily="18" charset="0"/>
                <a:cs typeface="Times New Roman" panose="02020603050405020304" pitchFamily="18" charset="0"/>
              </a:rPr>
              <a:t>resulting </a:t>
            </a:r>
            <a:r>
              <a:rPr lang="en-US" sz="2190" spc="10" dirty="0">
                <a:latin typeface="Times New Roman" panose="02020603050405020304" pitchFamily="18" charset="0"/>
                <a:cs typeface="Times New Roman" panose="02020603050405020304" pitchFamily="18" charset="0"/>
              </a:rPr>
              <a:t>in </a:t>
            </a:r>
            <a:r>
              <a:rPr lang="en-US" sz="2190" spc="5" dirty="0">
                <a:latin typeface="Times New Roman" panose="02020603050405020304" pitchFamily="18" charset="0"/>
                <a:cs typeface="Times New Roman" panose="02020603050405020304" pitchFamily="18" charset="0"/>
              </a:rPr>
              <a:t>unnecessary delays </a:t>
            </a:r>
            <a:r>
              <a:rPr lang="en-US" sz="2190" spc="10" dirty="0">
                <a:latin typeface="Times New Roman" panose="02020603050405020304" pitchFamily="18" charset="0"/>
                <a:cs typeface="Times New Roman" panose="02020603050405020304" pitchFamily="18" charset="0"/>
              </a:rPr>
              <a:t>and </a:t>
            </a:r>
            <a:r>
              <a:rPr lang="en-US" sz="2190" spc="15" dirty="0">
                <a:latin typeface="Times New Roman" panose="02020603050405020304" pitchFamily="18" charset="0"/>
                <a:cs typeface="Times New Roman" panose="02020603050405020304" pitchFamily="18" charset="0"/>
              </a:rPr>
              <a:t> </a:t>
            </a:r>
            <a:r>
              <a:rPr lang="en-US" sz="2190" spc="5" dirty="0">
                <a:latin typeface="Times New Roman" panose="02020603050405020304" pitchFamily="18" charset="0"/>
                <a:cs typeface="Times New Roman" panose="02020603050405020304" pitchFamily="18" charset="0"/>
              </a:rPr>
              <a:t>potential</a:t>
            </a:r>
            <a:r>
              <a:rPr lang="en-US" sz="2190" spc="10" dirty="0">
                <a:latin typeface="Times New Roman" panose="02020603050405020304" pitchFamily="18" charset="0"/>
                <a:cs typeface="Times New Roman" panose="02020603050405020304" pitchFamily="18" charset="0"/>
              </a:rPr>
              <a:t> </a:t>
            </a:r>
            <a:r>
              <a:rPr lang="en-US" sz="2190" spc="5" dirty="0">
                <a:latin typeface="Times New Roman" panose="02020603050405020304" pitchFamily="18" charset="0"/>
                <a:cs typeface="Times New Roman" panose="02020603050405020304" pitchFamily="18" charset="0"/>
              </a:rPr>
              <a:t>consequences.</a:t>
            </a:r>
            <a:r>
              <a:rPr lang="en-US" sz="2190" spc="10" dirty="0">
                <a:latin typeface="Times New Roman" panose="02020603050405020304" pitchFamily="18" charset="0"/>
                <a:cs typeface="Times New Roman" panose="02020603050405020304" pitchFamily="18" charset="0"/>
              </a:rPr>
              <a:t> </a:t>
            </a:r>
            <a:endParaRPr lang="en-US" sz="2190" dirty="0">
              <a:latin typeface="Times New Roman" panose="02020603050405020304" pitchFamily="18" charset="0"/>
              <a:cs typeface="Times New Roman" panose="02020603050405020304" pitchFamily="18" charset="0"/>
            </a:endParaRPr>
          </a:p>
          <a:p>
            <a:pPr marL="117475" marR="7620" indent="-105410" algn="just">
              <a:lnSpc>
                <a:spcPct val="104600"/>
              </a:lnSpc>
              <a:buFont typeface="Wingdings"/>
              <a:buChar char=""/>
              <a:tabLst>
                <a:tab pos="118110" algn="l"/>
              </a:tabLst>
            </a:pPr>
            <a:r>
              <a:rPr lang="en-US" sz="2190" spc="5" dirty="0">
                <a:latin typeface="Times New Roman" panose="02020603050405020304" pitchFamily="18" charset="0"/>
                <a:cs typeface="Times New Roman" panose="02020603050405020304" pitchFamily="18" charset="0"/>
              </a:rPr>
              <a:t>The limitations of first-come-first-serve </a:t>
            </a:r>
            <a:r>
              <a:rPr lang="en-US" sz="2190" spc="10" dirty="0">
                <a:latin typeface="Times New Roman" panose="02020603050405020304" pitchFamily="18" charset="0"/>
                <a:cs typeface="Times New Roman" panose="02020603050405020304" pitchFamily="18" charset="0"/>
              </a:rPr>
              <a:t>and embrace a new era </a:t>
            </a:r>
            <a:r>
              <a:rPr lang="en-US" sz="2190" spc="5" dirty="0">
                <a:latin typeface="Times New Roman" panose="02020603050405020304" pitchFamily="18" charset="0"/>
                <a:cs typeface="Times New Roman" panose="02020603050405020304" pitchFamily="18" charset="0"/>
              </a:rPr>
              <a:t>of productivity </a:t>
            </a:r>
            <a:r>
              <a:rPr lang="en-US" sz="2190" spc="10" dirty="0">
                <a:latin typeface="Times New Roman" panose="02020603050405020304" pitchFamily="18" charset="0"/>
                <a:cs typeface="Times New Roman" panose="02020603050405020304" pitchFamily="18" charset="0"/>
              </a:rPr>
              <a:t>and </a:t>
            </a:r>
            <a:r>
              <a:rPr lang="en-US" sz="2190" spc="5" dirty="0">
                <a:latin typeface="Times New Roman" panose="02020603050405020304" pitchFamily="18" charset="0"/>
                <a:cs typeface="Times New Roman" panose="02020603050405020304" pitchFamily="18" charset="0"/>
              </a:rPr>
              <a:t>efficiency with our innovative </a:t>
            </a:r>
            <a:r>
              <a:rPr lang="en-US" sz="2190" spc="10" dirty="0">
                <a:latin typeface="Times New Roman" panose="02020603050405020304" pitchFamily="18" charset="0"/>
                <a:cs typeface="Times New Roman" panose="02020603050405020304" pitchFamily="18" charset="0"/>
              </a:rPr>
              <a:t> platform.</a:t>
            </a:r>
          </a:p>
          <a:p>
            <a:pPr marL="354965" marR="7620" indent="-342900" algn="just">
              <a:lnSpc>
                <a:spcPct val="104600"/>
              </a:lnSpc>
              <a:buFont typeface="Wingdings" panose="05000000000000000000" pitchFamily="2" charset="2"/>
              <a:buChar char="Ø"/>
              <a:tabLst>
                <a:tab pos="118110" algn="l"/>
              </a:tabLst>
            </a:pPr>
            <a:r>
              <a:rPr lang="en-US" sz="2190" spc="10" dirty="0">
                <a:latin typeface="Times New Roman" panose="02020603050405020304" pitchFamily="18" charset="0"/>
                <a:cs typeface="Times New Roman" panose="02020603050405020304" pitchFamily="18" charset="0"/>
              </a:rPr>
              <a:t>Task management systems often feature collaboration tools such as shared task lists, comments, and file attachments, facilitating seamless communication and collaboration among team members.</a:t>
            </a:r>
            <a:r>
              <a:rPr lang="en-US" sz="2190" b="1" spc="10" dirty="0">
                <a:latin typeface="Times New Roman" panose="02020603050405020304" pitchFamily="18" charset="0"/>
                <a:cs typeface="Times New Roman" panose="02020603050405020304" pitchFamily="18" charset="0"/>
              </a:rPr>
              <a:t>   </a:t>
            </a:r>
          </a:p>
          <a:p>
            <a:pPr marL="354965" marR="7620" indent="-342900" algn="just">
              <a:lnSpc>
                <a:spcPct val="104600"/>
              </a:lnSpc>
              <a:buFont typeface="Wingdings" panose="05000000000000000000" pitchFamily="2" charset="2"/>
              <a:buChar char="Ø"/>
              <a:tabLst>
                <a:tab pos="118110" algn="l"/>
              </a:tabLst>
            </a:pPr>
            <a:r>
              <a:rPr lang="en-US" sz="2190" spc="10" dirty="0">
                <a:latin typeface="Times New Roman" panose="02020603050405020304" pitchFamily="18" charset="0"/>
                <a:cs typeface="Times New Roman" panose="02020603050405020304" pitchFamily="18" charset="0"/>
              </a:rPr>
              <a:t>Automated notifications and reminders keep users informed about upcoming deadlines, overdue tasks, or important updates, helping to prevent missed deadlines and ensure timely task completion.</a:t>
            </a:r>
            <a:r>
              <a:rPr lang="en-US" sz="2190" b="1" spc="10" dirty="0">
                <a:latin typeface="Times New Roman" panose="02020603050405020304" pitchFamily="18" charset="0"/>
                <a:cs typeface="Times New Roman" panose="02020603050405020304" pitchFamily="18" charset="0"/>
              </a:rPr>
              <a:t> </a:t>
            </a:r>
          </a:p>
          <a:p>
            <a:pPr marL="354965" marR="7620" indent="-342900" algn="just">
              <a:lnSpc>
                <a:spcPct val="104600"/>
              </a:lnSpc>
              <a:buFont typeface="Wingdings" panose="05000000000000000000" pitchFamily="2" charset="2"/>
              <a:buChar char="Ø"/>
              <a:tabLst>
                <a:tab pos="118110" algn="l"/>
              </a:tabLst>
            </a:pPr>
            <a:r>
              <a:rPr lang="en-US" sz="2190" spc="10" dirty="0">
                <a:latin typeface="Times New Roman" panose="02020603050405020304" pitchFamily="18" charset="0"/>
                <a:cs typeface="Times New Roman" panose="02020603050405020304" pitchFamily="18" charset="0"/>
              </a:rPr>
              <a:t>Advanced task management systems may offer reporting and analytics capabilities, allowing users to gain insights into productivity trends, resource allocation, and project performance.</a:t>
            </a:r>
            <a:r>
              <a:rPr lang="en-US" sz="2190" b="1" spc="10" dirty="0">
                <a:latin typeface="Times New Roman" panose="02020603050405020304" pitchFamily="18" charset="0"/>
                <a:cs typeface="Times New Roman" panose="02020603050405020304" pitchFamily="18" charset="0"/>
              </a:rPr>
              <a:t>                                                                                                                            </a:t>
            </a:r>
            <a:r>
              <a:rPr lang="en-US" sz="2100" b="1" spc="10" dirty="0">
                <a:latin typeface="Times New Roman"/>
                <a:cs typeface="Times New Roman"/>
              </a:rPr>
              <a:t>                                                                                                                                                                                                                           </a:t>
            </a:r>
          </a:p>
          <a:p>
            <a:pPr marL="12065" marR="7620" algn="just">
              <a:lnSpc>
                <a:spcPct val="104600"/>
              </a:lnSpc>
              <a:tabLst>
                <a:tab pos="118110" algn="l"/>
              </a:tabLst>
            </a:pPr>
            <a:r>
              <a:rPr lang="en-US" sz="2100" b="1" spc="10" dirty="0">
                <a:latin typeface="Times New Roman"/>
                <a:cs typeface="Times New Roman"/>
              </a:rPr>
              <a:t>                                                                                                                                                                                                                                                                                                                                                                                                                                           </a:t>
            </a:r>
          </a:p>
        </p:txBody>
      </p:sp>
      <p:sp>
        <p:nvSpPr>
          <p:cNvPr id="36" name="TextBox 35"/>
          <p:cNvSpPr txBox="1"/>
          <p:nvPr/>
        </p:nvSpPr>
        <p:spPr>
          <a:xfrm>
            <a:off x="28002" y="10818198"/>
            <a:ext cx="8943078" cy="335276"/>
          </a:xfrm>
          <a:prstGeom prst="rect">
            <a:avLst/>
          </a:prstGeom>
          <a:noFill/>
        </p:spPr>
        <p:txBody>
          <a:bodyPr wrap="square" rtlCol="0">
            <a:spAutoFit/>
          </a:bodyPr>
          <a:lstStyle/>
          <a:p>
            <a:endParaRPr lang="en-IN" sz="1990" b="1" dirty="0">
              <a:latin typeface="Times New Roman" panose="02020603050405020304" pitchFamily="18" charset="0"/>
              <a:cs typeface="Times New Roman" panose="02020603050405020304" pitchFamily="18" charset="0"/>
            </a:endParaRPr>
          </a:p>
        </p:txBody>
      </p:sp>
      <p:sp>
        <p:nvSpPr>
          <p:cNvPr id="37" name="TextBox 36"/>
          <p:cNvSpPr txBox="1"/>
          <p:nvPr/>
        </p:nvSpPr>
        <p:spPr>
          <a:xfrm>
            <a:off x="323722" y="16844931"/>
            <a:ext cx="21139308" cy="2847511"/>
          </a:xfrm>
          <a:prstGeom prst="rect">
            <a:avLst/>
          </a:prstGeom>
          <a:noFill/>
        </p:spPr>
        <p:txBody>
          <a:bodyPr wrap="square" rtlCol="0">
            <a:spAutoFit/>
          </a:bodyPr>
          <a:lstStyle/>
          <a:p>
            <a:r>
              <a:rPr lang="en-US" sz="1990" b="1" dirty="0">
                <a:latin typeface="Times New Roman" panose="02020603050405020304" pitchFamily="18" charset="0"/>
                <a:cs typeface="Times New Roman" panose="02020603050405020304" pitchFamily="18" charset="0"/>
              </a:rPr>
              <a:t> </a:t>
            </a: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199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42229" y="22727103"/>
            <a:ext cx="21599525" cy="4624664"/>
          </a:xfrm>
          <a:prstGeom prst="rect">
            <a:avLst/>
          </a:prstGeom>
          <a:noFill/>
        </p:spPr>
        <p:txBody>
          <a:bodyPr wrap="square" rtlCol="0">
            <a:spAutoFit/>
          </a:bodyPr>
          <a:lstStyle/>
          <a:p>
            <a:pPr marL="117475" marR="7620" indent="-105410">
              <a:lnSpc>
                <a:spcPct val="103099"/>
              </a:lnSpc>
              <a:spcBef>
                <a:spcPts val="95"/>
              </a:spcBef>
              <a:buFont typeface="Wingdings"/>
              <a:buChar char=""/>
              <a:tabLst>
                <a:tab pos="118110" algn="l"/>
              </a:tabLst>
            </a:pPr>
            <a:r>
              <a:rPr lang="en-US" sz="2190" spc="10" dirty="0">
                <a:latin typeface="Times New Roman"/>
                <a:cs typeface="Times New Roman"/>
              </a:rPr>
              <a:t>Based</a:t>
            </a:r>
            <a:r>
              <a:rPr lang="en-US" sz="2190" spc="65" dirty="0">
                <a:latin typeface="Times New Roman"/>
                <a:cs typeface="Times New Roman"/>
              </a:rPr>
              <a:t> </a:t>
            </a:r>
            <a:r>
              <a:rPr lang="en-US" sz="2190" spc="10" dirty="0">
                <a:latin typeface="Times New Roman"/>
                <a:cs typeface="Times New Roman"/>
              </a:rPr>
              <a:t>on</a:t>
            </a:r>
            <a:r>
              <a:rPr lang="en-US" sz="2190" spc="135" dirty="0">
                <a:latin typeface="Times New Roman"/>
                <a:cs typeface="Times New Roman"/>
              </a:rPr>
              <a:t> </a:t>
            </a:r>
            <a:r>
              <a:rPr lang="en-US" sz="2190" spc="-10" dirty="0">
                <a:latin typeface="Times New Roman"/>
                <a:cs typeface="Times New Roman"/>
              </a:rPr>
              <a:t>T-test</a:t>
            </a:r>
            <a:r>
              <a:rPr lang="en-US" sz="2190" spc="75" dirty="0">
                <a:latin typeface="Times New Roman"/>
                <a:cs typeface="Times New Roman"/>
              </a:rPr>
              <a:t> </a:t>
            </a:r>
            <a:r>
              <a:rPr lang="en-US" sz="2190" spc="5" dirty="0">
                <a:latin typeface="Times New Roman"/>
                <a:cs typeface="Times New Roman"/>
              </a:rPr>
              <a:t>Statistical</a:t>
            </a:r>
            <a:r>
              <a:rPr lang="en-US" sz="2190" spc="80" dirty="0">
                <a:latin typeface="Times New Roman"/>
                <a:cs typeface="Times New Roman"/>
              </a:rPr>
              <a:t> </a:t>
            </a:r>
            <a:r>
              <a:rPr lang="en-US" sz="2190" spc="5" dirty="0">
                <a:latin typeface="Times New Roman"/>
                <a:cs typeface="Times New Roman"/>
              </a:rPr>
              <a:t>analysis,</a:t>
            </a:r>
            <a:r>
              <a:rPr lang="en-US" sz="2190" spc="70" dirty="0">
                <a:latin typeface="Times New Roman"/>
                <a:cs typeface="Times New Roman"/>
              </a:rPr>
              <a:t> </a:t>
            </a:r>
            <a:r>
              <a:rPr lang="en-US" sz="2190" spc="5" dirty="0">
                <a:latin typeface="Times New Roman"/>
                <a:cs typeface="Times New Roman"/>
              </a:rPr>
              <a:t>the</a:t>
            </a:r>
            <a:r>
              <a:rPr lang="en-US" sz="2190" spc="75" dirty="0">
                <a:latin typeface="Times New Roman"/>
                <a:cs typeface="Times New Roman"/>
              </a:rPr>
              <a:t> </a:t>
            </a:r>
            <a:r>
              <a:rPr lang="en-US" sz="2190" spc="5" dirty="0">
                <a:latin typeface="Times New Roman"/>
                <a:cs typeface="Times New Roman"/>
              </a:rPr>
              <a:t>significance</a:t>
            </a:r>
            <a:r>
              <a:rPr lang="en-US" sz="2190" spc="80" dirty="0">
                <a:latin typeface="Times New Roman"/>
                <a:cs typeface="Times New Roman"/>
              </a:rPr>
              <a:t> </a:t>
            </a:r>
            <a:r>
              <a:rPr lang="en-US" sz="2190" spc="5" dirty="0">
                <a:latin typeface="Times New Roman"/>
                <a:cs typeface="Times New Roman"/>
              </a:rPr>
              <a:t>value</a:t>
            </a:r>
            <a:r>
              <a:rPr lang="en-US" sz="2190" spc="75" dirty="0">
                <a:latin typeface="Times New Roman"/>
                <a:cs typeface="Times New Roman"/>
              </a:rPr>
              <a:t> </a:t>
            </a:r>
            <a:r>
              <a:rPr lang="en-US" sz="2190" spc="5" dirty="0">
                <a:latin typeface="Times New Roman"/>
                <a:cs typeface="Times New Roman"/>
              </a:rPr>
              <a:t>of</a:t>
            </a:r>
            <a:r>
              <a:rPr lang="en-US" sz="2190" spc="140" dirty="0">
                <a:latin typeface="Times New Roman"/>
                <a:cs typeface="Times New Roman"/>
              </a:rPr>
              <a:t> </a:t>
            </a:r>
            <a:r>
              <a:rPr lang="en-US" sz="2190" spc="10" dirty="0">
                <a:latin typeface="Times New Roman"/>
                <a:cs typeface="Times New Roman"/>
              </a:rPr>
              <a:t>p=0.95</a:t>
            </a:r>
            <a:r>
              <a:rPr lang="en-US" sz="2190" spc="75" dirty="0">
                <a:latin typeface="Times New Roman"/>
                <a:cs typeface="Times New Roman"/>
              </a:rPr>
              <a:t> </a:t>
            </a:r>
            <a:r>
              <a:rPr lang="en-US" sz="2190" spc="5" dirty="0">
                <a:latin typeface="Times New Roman"/>
                <a:cs typeface="Times New Roman"/>
              </a:rPr>
              <a:t>(independent</a:t>
            </a:r>
            <a:r>
              <a:rPr lang="en-US" sz="2190" spc="60" dirty="0">
                <a:latin typeface="Times New Roman"/>
                <a:cs typeface="Times New Roman"/>
              </a:rPr>
              <a:t> </a:t>
            </a:r>
            <a:r>
              <a:rPr lang="en-US" sz="2190" spc="10" dirty="0">
                <a:latin typeface="Times New Roman"/>
                <a:cs typeface="Times New Roman"/>
              </a:rPr>
              <a:t>sample</a:t>
            </a:r>
            <a:r>
              <a:rPr lang="en-US" sz="2190" spc="75" dirty="0">
                <a:latin typeface="Times New Roman"/>
                <a:cs typeface="Times New Roman"/>
              </a:rPr>
              <a:t> </a:t>
            </a:r>
            <a:r>
              <a:rPr lang="en-US" sz="2190" spc="10" dirty="0">
                <a:latin typeface="Times New Roman"/>
                <a:cs typeface="Times New Roman"/>
              </a:rPr>
              <a:t>T</a:t>
            </a:r>
            <a:r>
              <a:rPr lang="en-US" sz="2190" spc="50" dirty="0">
                <a:latin typeface="Times New Roman"/>
                <a:cs typeface="Times New Roman"/>
              </a:rPr>
              <a:t> </a:t>
            </a:r>
            <a:r>
              <a:rPr lang="en-US" sz="2190" spc="5" dirty="0">
                <a:latin typeface="Times New Roman"/>
                <a:cs typeface="Times New Roman"/>
              </a:rPr>
              <a:t>-</a:t>
            </a:r>
            <a:r>
              <a:rPr lang="en-US" sz="2190" spc="65" dirty="0">
                <a:latin typeface="Times New Roman"/>
                <a:cs typeface="Times New Roman"/>
              </a:rPr>
              <a:t> </a:t>
            </a:r>
            <a:r>
              <a:rPr lang="en-US" sz="2190" dirty="0">
                <a:latin typeface="Times New Roman"/>
                <a:cs typeface="Times New Roman"/>
              </a:rPr>
              <a:t>test</a:t>
            </a:r>
            <a:r>
              <a:rPr lang="en-US" sz="2190" spc="75" dirty="0">
                <a:latin typeface="Times New Roman"/>
                <a:cs typeface="Times New Roman"/>
              </a:rPr>
              <a:t> </a:t>
            </a:r>
            <a:r>
              <a:rPr lang="en-US" sz="2190" spc="5" dirty="0">
                <a:latin typeface="Times New Roman"/>
                <a:cs typeface="Times New Roman"/>
              </a:rPr>
              <a:t>p&gt;0.05)</a:t>
            </a:r>
            <a:r>
              <a:rPr lang="en-US" sz="2190" spc="80" dirty="0">
                <a:latin typeface="Times New Roman"/>
                <a:cs typeface="Times New Roman"/>
              </a:rPr>
              <a:t> </a:t>
            </a:r>
            <a:r>
              <a:rPr lang="en-US" sz="2190" dirty="0">
                <a:latin typeface="Times New Roman"/>
                <a:cs typeface="Times New Roman"/>
              </a:rPr>
              <a:t>is</a:t>
            </a:r>
            <a:r>
              <a:rPr lang="en-US" sz="2190" spc="70" dirty="0">
                <a:latin typeface="Times New Roman"/>
                <a:cs typeface="Times New Roman"/>
              </a:rPr>
              <a:t> </a:t>
            </a:r>
            <a:r>
              <a:rPr lang="en-US" sz="2190" spc="5" dirty="0">
                <a:latin typeface="Times New Roman"/>
                <a:cs typeface="Times New Roman"/>
              </a:rPr>
              <a:t>obtained</a:t>
            </a:r>
            <a:r>
              <a:rPr lang="en-US" sz="2190" spc="60" dirty="0">
                <a:latin typeface="Times New Roman"/>
                <a:cs typeface="Times New Roman"/>
              </a:rPr>
              <a:t> </a:t>
            </a:r>
            <a:r>
              <a:rPr lang="en-US" sz="2190" spc="10" dirty="0">
                <a:latin typeface="Times New Roman"/>
                <a:cs typeface="Times New Roman"/>
              </a:rPr>
              <a:t>and</a:t>
            </a:r>
            <a:r>
              <a:rPr lang="en-US" sz="2190" spc="70" dirty="0">
                <a:latin typeface="Times New Roman"/>
                <a:cs typeface="Times New Roman"/>
              </a:rPr>
              <a:t> </a:t>
            </a:r>
            <a:r>
              <a:rPr lang="en-US" sz="2190" spc="5" dirty="0">
                <a:latin typeface="Times New Roman"/>
                <a:cs typeface="Times New Roman"/>
              </a:rPr>
              <a:t>shows</a:t>
            </a:r>
            <a:r>
              <a:rPr lang="en-US" sz="2190" spc="70" dirty="0">
                <a:latin typeface="Times New Roman"/>
                <a:cs typeface="Times New Roman"/>
              </a:rPr>
              <a:t> </a:t>
            </a:r>
            <a:r>
              <a:rPr lang="en-US" sz="2190" spc="5" dirty="0">
                <a:latin typeface="Times New Roman"/>
                <a:cs typeface="Times New Roman"/>
              </a:rPr>
              <a:t>that</a:t>
            </a:r>
            <a:r>
              <a:rPr lang="en-US" sz="2190" spc="75" dirty="0">
                <a:latin typeface="Times New Roman"/>
                <a:cs typeface="Times New Roman"/>
              </a:rPr>
              <a:t> </a:t>
            </a:r>
            <a:r>
              <a:rPr lang="en-US" sz="2190" spc="5" dirty="0">
                <a:latin typeface="Times New Roman"/>
                <a:cs typeface="Times New Roman"/>
              </a:rPr>
              <a:t>there</a:t>
            </a:r>
            <a:r>
              <a:rPr lang="en-US" sz="2190" spc="70" dirty="0">
                <a:latin typeface="Times New Roman"/>
                <a:cs typeface="Times New Roman"/>
              </a:rPr>
              <a:t> </a:t>
            </a:r>
            <a:r>
              <a:rPr lang="en-US" sz="2190" spc="5" dirty="0">
                <a:latin typeface="Times New Roman"/>
                <a:cs typeface="Times New Roman"/>
              </a:rPr>
              <a:t>is</a:t>
            </a:r>
            <a:r>
              <a:rPr lang="en-US" sz="2190" spc="70" dirty="0">
                <a:latin typeface="Times New Roman"/>
                <a:cs typeface="Times New Roman"/>
              </a:rPr>
              <a:t> </a:t>
            </a:r>
            <a:r>
              <a:rPr lang="en-US" sz="2190" spc="10" dirty="0">
                <a:latin typeface="Times New Roman"/>
                <a:cs typeface="Times New Roman"/>
              </a:rPr>
              <a:t>a</a:t>
            </a:r>
            <a:r>
              <a:rPr lang="en-US" sz="2190" spc="55" dirty="0">
                <a:latin typeface="Times New Roman"/>
                <a:cs typeface="Times New Roman"/>
              </a:rPr>
              <a:t> </a:t>
            </a:r>
            <a:r>
              <a:rPr lang="en-US" sz="2190" spc="5" dirty="0">
                <a:latin typeface="Times New Roman"/>
                <a:cs typeface="Times New Roman"/>
              </a:rPr>
              <a:t>statistical</a:t>
            </a:r>
            <a:r>
              <a:rPr lang="en-US" sz="2190" spc="70" dirty="0">
                <a:latin typeface="Times New Roman"/>
                <a:cs typeface="Times New Roman"/>
              </a:rPr>
              <a:t> </a:t>
            </a:r>
            <a:r>
              <a:rPr lang="en-US" sz="2190" spc="5" dirty="0">
                <a:latin typeface="Times New Roman"/>
                <a:cs typeface="Times New Roman"/>
              </a:rPr>
              <a:t>significant </a:t>
            </a:r>
            <a:r>
              <a:rPr lang="en-US" sz="2190" spc="10" dirty="0">
                <a:latin typeface="Times New Roman"/>
                <a:cs typeface="Times New Roman"/>
              </a:rPr>
              <a:t> </a:t>
            </a:r>
            <a:r>
              <a:rPr lang="en-US" sz="2190" spc="5" dirty="0">
                <a:latin typeface="Times New Roman"/>
                <a:cs typeface="Times New Roman"/>
              </a:rPr>
              <a:t>difference</a:t>
            </a:r>
            <a:r>
              <a:rPr lang="en-US" sz="2190" spc="-20" dirty="0">
                <a:latin typeface="Times New Roman"/>
                <a:cs typeface="Times New Roman"/>
              </a:rPr>
              <a:t> </a:t>
            </a:r>
            <a:r>
              <a:rPr lang="en-US" sz="2190" spc="5" dirty="0">
                <a:latin typeface="Times New Roman"/>
                <a:cs typeface="Times New Roman"/>
              </a:rPr>
              <a:t>between the</a:t>
            </a:r>
            <a:r>
              <a:rPr lang="en-US" sz="2190" spc="-5" dirty="0">
                <a:latin typeface="Times New Roman"/>
                <a:cs typeface="Times New Roman"/>
              </a:rPr>
              <a:t> </a:t>
            </a:r>
            <a:r>
              <a:rPr lang="en-US" sz="2190" spc="5" dirty="0">
                <a:latin typeface="Times New Roman"/>
                <a:cs typeface="Times New Roman"/>
              </a:rPr>
              <a:t>group</a:t>
            </a:r>
            <a:r>
              <a:rPr lang="en-US" sz="2190" spc="20" dirty="0">
                <a:latin typeface="Times New Roman"/>
                <a:cs typeface="Times New Roman"/>
              </a:rPr>
              <a:t> </a:t>
            </a:r>
            <a:r>
              <a:rPr lang="en-US" sz="2190" spc="10" dirty="0">
                <a:latin typeface="Times New Roman"/>
                <a:cs typeface="Times New Roman"/>
              </a:rPr>
              <a:t>1</a:t>
            </a:r>
            <a:r>
              <a:rPr lang="en-US" sz="2190" spc="5" dirty="0">
                <a:latin typeface="Times New Roman"/>
                <a:cs typeface="Times New Roman"/>
              </a:rPr>
              <a:t> </a:t>
            </a:r>
            <a:r>
              <a:rPr lang="en-US" sz="2190" spc="10" dirty="0">
                <a:latin typeface="Times New Roman"/>
                <a:cs typeface="Times New Roman"/>
              </a:rPr>
              <a:t>and</a:t>
            </a:r>
            <a:r>
              <a:rPr lang="en-US" sz="2190" dirty="0">
                <a:latin typeface="Times New Roman"/>
                <a:cs typeface="Times New Roman"/>
              </a:rPr>
              <a:t> </a:t>
            </a:r>
            <a:r>
              <a:rPr lang="en-US" sz="2190" spc="5" dirty="0">
                <a:latin typeface="Times New Roman"/>
                <a:cs typeface="Times New Roman"/>
              </a:rPr>
              <a:t>group 2.</a:t>
            </a:r>
            <a:endParaRPr lang="en-US" sz="2190" dirty="0">
              <a:latin typeface="Times New Roman"/>
              <a:cs typeface="Times New Roman"/>
            </a:endParaRPr>
          </a:p>
          <a:p>
            <a:pPr marL="118110" marR="2315845" indent="-118110">
              <a:lnSpc>
                <a:spcPct val="104600"/>
              </a:lnSpc>
              <a:buFont typeface="Wingdings"/>
              <a:buChar char=""/>
              <a:tabLst>
                <a:tab pos="118110" algn="l"/>
                <a:tab pos="2058035" algn="l"/>
                <a:tab pos="2214880" algn="l"/>
              </a:tabLst>
            </a:pPr>
            <a:r>
              <a:rPr lang="en-US" sz="2190" spc="10" dirty="0">
                <a:latin typeface="Times New Roman"/>
                <a:cs typeface="Times New Roman"/>
              </a:rPr>
              <a:t>Overall </a:t>
            </a:r>
            <a:r>
              <a:rPr lang="en-US" sz="2190" spc="5" dirty="0">
                <a:latin typeface="Times New Roman"/>
                <a:cs typeface="Times New Roman"/>
              </a:rPr>
              <a:t>, the accuracy of the priority scheduling </a:t>
            </a:r>
            <a:r>
              <a:rPr lang="en-US" sz="2190" spc="10" dirty="0">
                <a:latin typeface="Times New Roman"/>
                <a:cs typeface="Times New Roman"/>
              </a:rPr>
              <a:t>(PS) </a:t>
            </a:r>
            <a:r>
              <a:rPr lang="en-US" sz="2190" spc="5" dirty="0">
                <a:latin typeface="Times New Roman"/>
                <a:cs typeface="Times New Roman"/>
              </a:rPr>
              <a:t>is 50.00 </a:t>
            </a:r>
            <a:r>
              <a:rPr lang="en-US" sz="2190" spc="20" dirty="0">
                <a:latin typeface="Times New Roman"/>
                <a:cs typeface="Times New Roman"/>
              </a:rPr>
              <a:t>% </a:t>
            </a:r>
            <a:r>
              <a:rPr lang="en-US" sz="2190" spc="10" dirty="0">
                <a:latin typeface="Times New Roman"/>
                <a:cs typeface="Times New Roman"/>
              </a:rPr>
              <a:t>and </a:t>
            </a:r>
            <a:r>
              <a:rPr lang="en-US" sz="2190" spc="5" dirty="0">
                <a:latin typeface="Times New Roman"/>
                <a:cs typeface="Times New Roman"/>
              </a:rPr>
              <a:t>it is better than the other </a:t>
            </a:r>
            <a:r>
              <a:rPr lang="en-US" sz="2190" spc="10" dirty="0">
                <a:latin typeface="Times New Roman"/>
                <a:cs typeface="Times New Roman"/>
              </a:rPr>
              <a:t>algorithm. </a:t>
            </a:r>
          </a:p>
          <a:p>
            <a:pPr marR="2315845">
              <a:lnSpc>
                <a:spcPct val="104600"/>
              </a:lnSpc>
              <a:tabLst>
                <a:tab pos="118110" algn="l"/>
                <a:tab pos="2058035" algn="l"/>
                <a:tab pos="2214880" algn="l"/>
              </a:tabLst>
            </a:pPr>
            <a:r>
              <a:rPr lang="en-US" sz="2190" spc="15" dirty="0">
                <a:latin typeface="Times New Roman"/>
                <a:cs typeface="Times New Roman"/>
              </a:rPr>
              <a:t>    </a:t>
            </a:r>
            <a:r>
              <a:rPr lang="en-US" sz="2190" spc="10" dirty="0">
                <a:latin typeface="Times New Roman"/>
                <a:cs typeface="Times New Roman"/>
              </a:rPr>
              <a:t>First</a:t>
            </a:r>
            <a:r>
              <a:rPr lang="en-US" sz="2190" spc="-15" dirty="0">
                <a:latin typeface="Times New Roman"/>
                <a:cs typeface="Times New Roman"/>
              </a:rPr>
              <a:t> </a:t>
            </a:r>
            <a:r>
              <a:rPr lang="en-US" sz="2190" spc="15" dirty="0">
                <a:latin typeface="Times New Roman"/>
                <a:cs typeface="Times New Roman"/>
              </a:rPr>
              <a:t>come</a:t>
            </a:r>
            <a:r>
              <a:rPr lang="en-US" sz="2190" spc="5" dirty="0">
                <a:latin typeface="Times New Roman"/>
                <a:cs typeface="Times New Roman"/>
              </a:rPr>
              <a:t> first</a:t>
            </a:r>
            <a:r>
              <a:rPr lang="en-US" sz="2190" spc="-15" dirty="0">
                <a:latin typeface="Times New Roman"/>
                <a:cs typeface="Times New Roman"/>
              </a:rPr>
              <a:t> </a:t>
            </a:r>
            <a:r>
              <a:rPr lang="en-US" sz="2190" spc="5" dirty="0">
                <a:latin typeface="Times New Roman"/>
                <a:cs typeface="Times New Roman"/>
              </a:rPr>
              <a:t>sreve</a:t>
            </a:r>
            <a:r>
              <a:rPr lang="en-US" sz="2190" spc="15" dirty="0">
                <a:latin typeface="Times New Roman"/>
                <a:cs typeface="Times New Roman"/>
              </a:rPr>
              <a:t> </a:t>
            </a:r>
            <a:r>
              <a:rPr lang="en-US" sz="2190" spc="10" dirty="0">
                <a:latin typeface="Times New Roman"/>
                <a:cs typeface="Times New Roman"/>
              </a:rPr>
              <a:t>(FCFS)	</a:t>
            </a:r>
            <a:r>
              <a:rPr lang="en-US" sz="2190" spc="5" dirty="0">
                <a:latin typeface="Times New Roman"/>
                <a:cs typeface="Times New Roman"/>
              </a:rPr>
              <a:t>-	</a:t>
            </a:r>
            <a:r>
              <a:rPr lang="en-US" sz="2190" spc="10" dirty="0">
                <a:latin typeface="Times New Roman"/>
                <a:cs typeface="Times New Roman"/>
              </a:rPr>
              <a:t>45.00%</a:t>
            </a:r>
          </a:p>
          <a:p>
            <a:pPr marR="2315845">
              <a:lnSpc>
                <a:spcPct val="104600"/>
              </a:lnSpc>
              <a:tabLst>
                <a:tab pos="118110" algn="l"/>
                <a:tab pos="2058035" algn="l"/>
                <a:tab pos="2214880" algn="l"/>
              </a:tabLst>
            </a:pPr>
            <a:r>
              <a:rPr lang="en-US" sz="2190" spc="10" dirty="0">
                <a:latin typeface="Times New Roman"/>
                <a:cs typeface="Times New Roman"/>
              </a:rPr>
              <a:t>    </a:t>
            </a:r>
            <a:r>
              <a:rPr lang="en-US" sz="2190" dirty="0">
                <a:latin typeface="Times New Roman"/>
                <a:cs typeface="Times New Roman"/>
              </a:rPr>
              <a:t>Priority Scheduling     (PS)     -     50.00% </a:t>
            </a:r>
          </a:p>
          <a:p>
            <a:pPr marR="2315845">
              <a:lnSpc>
                <a:spcPct val="104600"/>
              </a:lnSpc>
              <a:tabLst>
                <a:tab pos="118110" algn="l"/>
                <a:tab pos="2058035" algn="l"/>
                <a:tab pos="2214880" algn="l"/>
              </a:tabLst>
            </a:pPr>
            <a:r>
              <a:rPr lang="en-US" sz="2190" dirty="0">
                <a:latin typeface="Times New Roman"/>
                <a:cs typeface="Times New Roman"/>
              </a:rPr>
              <a:t>    deadline scheduling    (DS)    -      33.33%</a:t>
            </a:r>
          </a:p>
          <a:p>
            <a:pPr marR="2315845">
              <a:lnSpc>
                <a:spcPct val="104600"/>
              </a:lnSpc>
              <a:tabLst>
                <a:tab pos="118110" algn="l"/>
                <a:tab pos="2058035" algn="l"/>
                <a:tab pos="2214880" algn="l"/>
              </a:tabLst>
            </a:pPr>
            <a:r>
              <a:rPr lang="en-US" sz="2190" dirty="0">
                <a:latin typeface="Times New Roman"/>
                <a:cs typeface="Times New Roman"/>
              </a:rPr>
              <a:t>    Round Robin scheduling(RRS) -   30.22%</a:t>
            </a:r>
          </a:p>
          <a:p>
            <a:pPr marR="2315845">
              <a:lnSpc>
                <a:spcPct val="104600"/>
              </a:lnSpc>
              <a:tabLst>
                <a:tab pos="118110" algn="l"/>
                <a:tab pos="2058035" algn="l"/>
                <a:tab pos="2214880" algn="l"/>
              </a:tabLst>
            </a:pPr>
            <a:r>
              <a:rPr lang="en-US" sz="2190" dirty="0">
                <a:latin typeface="Times New Roman"/>
                <a:cs typeface="Times New Roman"/>
              </a:rPr>
              <a:t>    Earliest deadline first  (EDF) -      35.12%</a:t>
            </a:r>
          </a:p>
          <a:p>
            <a:pPr marL="117475" marR="5080" indent="-105410">
              <a:lnSpc>
                <a:spcPct val="103099"/>
              </a:lnSpc>
              <a:buFont typeface="Wingdings"/>
              <a:buChar char=""/>
              <a:tabLst>
                <a:tab pos="139700" algn="l"/>
              </a:tabLst>
            </a:pPr>
            <a:r>
              <a:rPr lang="en-US" sz="2190" spc="5" dirty="0">
                <a:latin typeface="Times New Roman"/>
                <a:cs typeface="Times New Roman"/>
              </a:rPr>
              <a:t>From</a:t>
            </a:r>
            <a:r>
              <a:rPr lang="en-US" sz="2190" spc="70" dirty="0">
                <a:latin typeface="Times New Roman"/>
                <a:cs typeface="Times New Roman"/>
              </a:rPr>
              <a:t> </a:t>
            </a:r>
            <a:r>
              <a:rPr lang="en-US" sz="2190" spc="5" dirty="0">
                <a:latin typeface="Times New Roman"/>
                <a:cs typeface="Times New Roman"/>
              </a:rPr>
              <a:t>the</a:t>
            </a:r>
            <a:r>
              <a:rPr lang="en-US" sz="2190" spc="70" dirty="0">
                <a:latin typeface="Times New Roman"/>
                <a:cs typeface="Times New Roman"/>
              </a:rPr>
              <a:t> </a:t>
            </a:r>
            <a:r>
              <a:rPr lang="en-US" sz="2190" spc="5" dirty="0">
                <a:latin typeface="Times New Roman"/>
                <a:cs typeface="Times New Roman"/>
              </a:rPr>
              <a:t>work</a:t>
            </a:r>
            <a:r>
              <a:rPr lang="en-US" sz="2190" spc="55" dirty="0">
                <a:latin typeface="Times New Roman"/>
                <a:cs typeface="Times New Roman"/>
              </a:rPr>
              <a:t> </a:t>
            </a:r>
            <a:r>
              <a:rPr lang="en-US" sz="2190" spc="5" dirty="0">
                <a:latin typeface="Times New Roman"/>
                <a:cs typeface="Times New Roman"/>
              </a:rPr>
              <a:t>,</a:t>
            </a:r>
            <a:r>
              <a:rPr lang="en-US" sz="2190" spc="65" dirty="0">
                <a:latin typeface="Times New Roman"/>
                <a:cs typeface="Times New Roman"/>
              </a:rPr>
              <a:t> </a:t>
            </a:r>
            <a:r>
              <a:rPr lang="en-US" sz="2190" spc="5" dirty="0">
                <a:latin typeface="Times New Roman"/>
                <a:cs typeface="Times New Roman"/>
              </a:rPr>
              <a:t>it</a:t>
            </a:r>
            <a:r>
              <a:rPr lang="en-US" sz="2190" spc="65" dirty="0">
                <a:latin typeface="Times New Roman"/>
                <a:cs typeface="Times New Roman"/>
              </a:rPr>
              <a:t> </a:t>
            </a:r>
            <a:r>
              <a:rPr lang="en-US" sz="2190" spc="5" dirty="0">
                <a:latin typeface="Times New Roman"/>
                <a:cs typeface="Times New Roman"/>
              </a:rPr>
              <a:t>is</a:t>
            </a:r>
            <a:r>
              <a:rPr lang="en-US" sz="2190" spc="65" dirty="0">
                <a:latin typeface="Times New Roman"/>
                <a:cs typeface="Times New Roman"/>
              </a:rPr>
              <a:t> </a:t>
            </a:r>
            <a:r>
              <a:rPr lang="en-US" sz="2190" spc="5" dirty="0">
                <a:latin typeface="Times New Roman"/>
                <a:cs typeface="Times New Roman"/>
              </a:rPr>
              <a:t>concluded</a:t>
            </a:r>
            <a:r>
              <a:rPr lang="en-US" sz="2190" spc="55" dirty="0">
                <a:latin typeface="Times New Roman"/>
                <a:cs typeface="Times New Roman"/>
              </a:rPr>
              <a:t> </a:t>
            </a:r>
            <a:r>
              <a:rPr lang="en-US" sz="2190" spc="5" dirty="0">
                <a:latin typeface="Times New Roman"/>
                <a:cs typeface="Times New Roman"/>
              </a:rPr>
              <a:t>that</a:t>
            </a:r>
            <a:r>
              <a:rPr lang="en-US" sz="2190" spc="75" dirty="0">
                <a:latin typeface="Times New Roman"/>
                <a:cs typeface="Times New Roman"/>
              </a:rPr>
              <a:t> </a:t>
            </a:r>
            <a:r>
              <a:rPr lang="en-US" sz="2190" spc="5" dirty="0">
                <a:latin typeface="Times New Roman"/>
                <a:cs typeface="Times New Roman"/>
              </a:rPr>
              <a:t>the</a:t>
            </a:r>
            <a:r>
              <a:rPr lang="en-US" sz="2190" spc="65" dirty="0">
                <a:latin typeface="Times New Roman"/>
                <a:cs typeface="Times New Roman"/>
              </a:rPr>
              <a:t> </a:t>
            </a:r>
            <a:r>
              <a:rPr lang="en-US" sz="2190" spc="5" dirty="0">
                <a:latin typeface="Times New Roman"/>
                <a:cs typeface="Times New Roman"/>
              </a:rPr>
              <a:t>priority</a:t>
            </a:r>
            <a:r>
              <a:rPr lang="en-US" sz="2190" spc="60" dirty="0">
                <a:latin typeface="Times New Roman"/>
                <a:cs typeface="Times New Roman"/>
              </a:rPr>
              <a:t> </a:t>
            </a:r>
            <a:r>
              <a:rPr lang="en-US" sz="2190" spc="5" dirty="0">
                <a:latin typeface="Times New Roman"/>
                <a:cs typeface="Times New Roman"/>
              </a:rPr>
              <a:t>scheduling</a:t>
            </a:r>
            <a:r>
              <a:rPr lang="en-US" sz="2190" spc="60" dirty="0">
                <a:latin typeface="Times New Roman"/>
                <a:cs typeface="Times New Roman"/>
              </a:rPr>
              <a:t> </a:t>
            </a:r>
            <a:r>
              <a:rPr lang="en-US" sz="2190" spc="5" dirty="0">
                <a:latin typeface="Times New Roman"/>
                <a:cs typeface="Times New Roman"/>
              </a:rPr>
              <a:t>algorithm</a:t>
            </a:r>
            <a:r>
              <a:rPr lang="en-US" sz="2190" spc="85" dirty="0">
                <a:latin typeface="Times New Roman"/>
                <a:cs typeface="Times New Roman"/>
              </a:rPr>
              <a:t> </a:t>
            </a:r>
            <a:r>
              <a:rPr lang="en-US" sz="2190" dirty="0">
                <a:latin typeface="Times New Roman"/>
                <a:cs typeface="Times New Roman"/>
              </a:rPr>
              <a:t>attains</a:t>
            </a:r>
            <a:r>
              <a:rPr lang="en-US" sz="2190" spc="65" dirty="0">
                <a:latin typeface="Times New Roman"/>
                <a:cs typeface="Times New Roman"/>
              </a:rPr>
              <a:t> </a:t>
            </a:r>
            <a:r>
              <a:rPr lang="en-US" sz="2190" spc="5" dirty="0">
                <a:latin typeface="Times New Roman"/>
                <a:cs typeface="Times New Roman"/>
              </a:rPr>
              <a:t>the</a:t>
            </a:r>
            <a:r>
              <a:rPr lang="en-US" sz="2190" spc="70" dirty="0">
                <a:latin typeface="Times New Roman"/>
                <a:cs typeface="Times New Roman"/>
              </a:rPr>
              <a:t> </a:t>
            </a:r>
            <a:r>
              <a:rPr lang="en-US" sz="2190" spc="10" dirty="0">
                <a:latin typeface="Times New Roman"/>
                <a:cs typeface="Times New Roman"/>
              </a:rPr>
              <a:t>high</a:t>
            </a:r>
            <a:r>
              <a:rPr lang="en-US" sz="2190" spc="55" dirty="0">
                <a:latin typeface="Times New Roman"/>
                <a:cs typeface="Times New Roman"/>
              </a:rPr>
              <a:t> </a:t>
            </a:r>
            <a:r>
              <a:rPr lang="en-US" sz="2190" spc="5" dirty="0">
                <a:latin typeface="Times New Roman"/>
                <a:cs typeface="Times New Roman"/>
              </a:rPr>
              <a:t>accuracy</a:t>
            </a:r>
            <a:r>
              <a:rPr lang="en-US" sz="2190" spc="80" dirty="0">
                <a:latin typeface="Times New Roman"/>
                <a:cs typeface="Times New Roman"/>
              </a:rPr>
              <a:t> </a:t>
            </a:r>
            <a:r>
              <a:rPr lang="en-US" sz="2190" spc="5" dirty="0">
                <a:latin typeface="Times New Roman"/>
                <a:cs typeface="Times New Roman"/>
              </a:rPr>
              <a:t>when</a:t>
            </a:r>
            <a:r>
              <a:rPr lang="en-US" sz="2190" spc="55" dirty="0">
                <a:latin typeface="Times New Roman"/>
                <a:cs typeface="Times New Roman"/>
              </a:rPr>
              <a:t> </a:t>
            </a:r>
            <a:r>
              <a:rPr lang="en-US" sz="2190" spc="10" dirty="0">
                <a:latin typeface="Times New Roman"/>
                <a:cs typeface="Times New Roman"/>
              </a:rPr>
              <a:t>comparing</a:t>
            </a:r>
            <a:r>
              <a:rPr lang="en-US" sz="2190" spc="65" dirty="0">
                <a:latin typeface="Times New Roman"/>
                <a:cs typeface="Times New Roman"/>
              </a:rPr>
              <a:t> </a:t>
            </a:r>
            <a:r>
              <a:rPr lang="en-US" sz="2190" spc="5" dirty="0">
                <a:latin typeface="Times New Roman"/>
                <a:cs typeface="Times New Roman"/>
              </a:rPr>
              <a:t>with</a:t>
            </a:r>
            <a:r>
              <a:rPr lang="en-US" sz="2190" spc="55" dirty="0">
                <a:latin typeface="Times New Roman"/>
                <a:cs typeface="Times New Roman"/>
              </a:rPr>
              <a:t> </a:t>
            </a:r>
            <a:r>
              <a:rPr lang="en-US" sz="2190" spc="5" dirty="0">
                <a:latin typeface="Times New Roman"/>
                <a:cs typeface="Times New Roman"/>
              </a:rPr>
              <a:t>other</a:t>
            </a:r>
            <a:r>
              <a:rPr lang="en-US" sz="2190" spc="55" dirty="0">
                <a:latin typeface="Times New Roman"/>
                <a:cs typeface="Times New Roman"/>
              </a:rPr>
              <a:t> </a:t>
            </a:r>
            <a:r>
              <a:rPr lang="en-US" sz="2190" spc="5" dirty="0">
                <a:latin typeface="Times New Roman"/>
                <a:cs typeface="Times New Roman"/>
              </a:rPr>
              <a:t>first</a:t>
            </a:r>
            <a:r>
              <a:rPr lang="en-US" sz="2190" spc="65" dirty="0">
                <a:latin typeface="Times New Roman"/>
                <a:cs typeface="Times New Roman"/>
              </a:rPr>
              <a:t> </a:t>
            </a:r>
            <a:r>
              <a:rPr lang="en-US" sz="2190" spc="10" dirty="0">
                <a:latin typeface="Times New Roman"/>
                <a:cs typeface="Times New Roman"/>
              </a:rPr>
              <a:t>come</a:t>
            </a:r>
            <a:r>
              <a:rPr lang="en-US" sz="2190" spc="70" dirty="0">
                <a:latin typeface="Times New Roman"/>
                <a:cs typeface="Times New Roman"/>
              </a:rPr>
              <a:t> </a:t>
            </a:r>
            <a:r>
              <a:rPr lang="en-US" sz="2190" dirty="0">
                <a:latin typeface="Times New Roman"/>
                <a:cs typeface="Times New Roman"/>
              </a:rPr>
              <a:t>first</a:t>
            </a:r>
            <a:r>
              <a:rPr lang="en-US" sz="2190" spc="65" dirty="0">
                <a:latin typeface="Times New Roman"/>
                <a:cs typeface="Times New Roman"/>
              </a:rPr>
              <a:t> </a:t>
            </a:r>
            <a:r>
              <a:rPr lang="en-US" sz="2190" spc="5" dirty="0">
                <a:latin typeface="Times New Roman"/>
                <a:cs typeface="Times New Roman"/>
              </a:rPr>
              <a:t>sreve</a:t>
            </a:r>
            <a:r>
              <a:rPr lang="en-US" sz="2190" spc="70" dirty="0">
                <a:latin typeface="Times New Roman"/>
                <a:cs typeface="Times New Roman"/>
              </a:rPr>
              <a:t> </a:t>
            </a:r>
            <a:r>
              <a:rPr lang="en-US" sz="2190" spc="5" dirty="0">
                <a:latin typeface="Times New Roman"/>
                <a:cs typeface="Times New Roman"/>
              </a:rPr>
              <a:t>Algorithm</a:t>
            </a:r>
            <a:r>
              <a:rPr lang="en-US" sz="2190" spc="85" dirty="0">
                <a:latin typeface="Times New Roman"/>
                <a:cs typeface="Times New Roman"/>
              </a:rPr>
              <a:t> </a:t>
            </a:r>
            <a:r>
              <a:rPr lang="en-US" sz="2190" spc="5" dirty="0">
                <a:latin typeface="Times New Roman"/>
                <a:cs typeface="Times New Roman"/>
              </a:rPr>
              <a:t>of</a:t>
            </a:r>
            <a:r>
              <a:rPr lang="en-US" sz="2190" spc="65" dirty="0">
                <a:latin typeface="Times New Roman"/>
                <a:cs typeface="Times New Roman"/>
              </a:rPr>
              <a:t> </a:t>
            </a:r>
            <a:r>
              <a:rPr lang="en-US" sz="2190" spc="5" dirty="0">
                <a:latin typeface="Times New Roman"/>
                <a:cs typeface="Times New Roman"/>
              </a:rPr>
              <a:t>task </a:t>
            </a:r>
            <a:r>
              <a:rPr lang="en-US" sz="2190" spc="10" dirty="0">
                <a:latin typeface="Times New Roman"/>
                <a:cs typeface="Times New Roman"/>
              </a:rPr>
              <a:t> management</a:t>
            </a:r>
            <a:r>
              <a:rPr lang="en-US" sz="2190" spc="-30" dirty="0">
                <a:latin typeface="Times New Roman"/>
                <a:cs typeface="Times New Roman"/>
              </a:rPr>
              <a:t> </a:t>
            </a:r>
            <a:r>
              <a:rPr lang="en-US" sz="2190" spc="5" dirty="0">
                <a:latin typeface="Times New Roman"/>
                <a:cs typeface="Times New Roman"/>
              </a:rPr>
              <a:t>system.</a:t>
            </a:r>
            <a:endParaRPr lang="en-US" sz="2190" dirty="0">
              <a:latin typeface="Times New Roman"/>
              <a:cs typeface="Times New Roman"/>
            </a:endParaRPr>
          </a:p>
          <a:p>
            <a:pPr marL="117475" marR="109220" indent="-105410">
              <a:lnSpc>
                <a:spcPct val="103099"/>
              </a:lnSpc>
              <a:buFont typeface="Wingdings"/>
              <a:buChar char=""/>
              <a:tabLst>
                <a:tab pos="118110" algn="l"/>
              </a:tabLst>
            </a:pPr>
            <a:r>
              <a:rPr lang="en-US" sz="2190" spc="10" dirty="0">
                <a:latin typeface="Times New Roman"/>
                <a:cs typeface="Times New Roman"/>
              </a:rPr>
              <a:t> In</a:t>
            </a:r>
            <a:r>
              <a:rPr lang="en-US" sz="2190" spc="25" dirty="0">
                <a:latin typeface="Times New Roman"/>
                <a:cs typeface="Times New Roman"/>
              </a:rPr>
              <a:t> </a:t>
            </a:r>
            <a:r>
              <a:rPr lang="en-US" sz="2190" spc="5" dirty="0">
                <a:latin typeface="Times New Roman"/>
                <a:cs typeface="Times New Roman"/>
              </a:rPr>
              <a:t>predictive</a:t>
            </a:r>
            <a:r>
              <a:rPr lang="en-US" sz="2190" spc="-5" dirty="0">
                <a:latin typeface="Times New Roman"/>
                <a:cs typeface="Times New Roman"/>
              </a:rPr>
              <a:t> </a:t>
            </a:r>
            <a:r>
              <a:rPr lang="en-US" sz="2190" spc="5" dirty="0">
                <a:latin typeface="Times New Roman"/>
                <a:cs typeface="Times New Roman"/>
              </a:rPr>
              <a:t>health</a:t>
            </a:r>
            <a:r>
              <a:rPr lang="en-US" sz="2190" spc="25" dirty="0">
                <a:latin typeface="Times New Roman"/>
                <a:cs typeface="Times New Roman"/>
              </a:rPr>
              <a:t> </a:t>
            </a:r>
            <a:r>
              <a:rPr lang="en-US" sz="2190" spc="5" dirty="0">
                <a:latin typeface="Times New Roman"/>
                <a:cs typeface="Times New Roman"/>
              </a:rPr>
              <a:t>analysis,</a:t>
            </a:r>
            <a:r>
              <a:rPr lang="en-US" sz="2190" spc="25" dirty="0">
                <a:latin typeface="Times New Roman"/>
                <a:cs typeface="Times New Roman"/>
              </a:rPr>
              <a:t> </a:t>
            </a:r>
            <a:r>
              <a:rPr lang="en-US" sz="2190" spc="5" dirty="0">
                <a:latin typeface="Times New Roman"/>
                <a:cs typeface="Times New Roman"/>
              </a:rPr>
              <a:t>logistic</a:t>
            </a:r>
            <a:r>
              <a:rPr lang="en-US" sz="2190" dirty="0">
                <a:latin typeface="Times New Roman"/>
                <a:cs typeface="Times New Roman"/>
              </a:rPr>
              <a:t> </a:t>
            </a:r>
            <a:r>
              <a:rPr lang="en-US" sz="2190" spc="5" dirty="0">
                <a:latin typeface="Times New Roman"/>
                <a:cs typeface="Times New Roman"/>
              </a:rPr>
              <a:t>regression</a:t>
            </a:r>
            <a:r>
              <a:rPr lang="en-US" sz="2190" spc="10" dirty="0">
                <a:latin typeface="Times New Roman"/>
                <a:cs typeface="Times New Roman"/>
              </a:rPr>
              <a:t> </a:t>
            </a:r>
            <a:r>
              <a:rPr lang="en-US" sz="2190" spc="5" dirty="0">
                <a:latin typeface="Times New Roman"/>
                <a:cs typeface="Times New Roman"/>
              </a:rPr>
              <a:t>offers superior</a:t>
            </a:r>
            <a:r>
              <a:rPr lang="en-US" sz="2190" dirty="0">
                <a:latin typeface="Times New Roman"/>
                <a:cs typeface="Times New Roman"/>
              </a:rPr>
              <a:t> </a:t>
            </a:r>
            <a:r>
              <a:rPr lang="en-US" sz="2190" spc="5" dirty="0">
                <a:latin typeface="Times New Roman"/>
                <a:cs typeface="Times New Roman"/>
              </a:rPr>
              <a:t>classification</a:t>
            </a:r>
            <a:r>
              <a:rPr lang="en-US" sz="2190" spc="-5" dirty="0">
                <a:latin typeface="Times New Roman"/>
                <a:cs typeface="Times New Roman"/>
              </a:rPr>
              <a:t> </a:t>
            </a:r>
            <a:r>
              <a:rPr lang="en-US" sz="2190" spc="10" dirty="0">
                <a:latin typeface="Times New Roman"/>
                <a:cs typeface="Times New Roman"/>
              </a:rPr>
              <a:t>performance</a:t>
            </a:r>
            <a:r>
              <a:rPr lang="en-US" sz="2190" dirty="0">
                <a:latin typeface="Times New Roman"/>
                <a:cs typeface="Times New Roman"/>
              </a:rPr>
              <a:t> </a:t>
            </a:r>
            <a:r>
              <a:rPr lang="en-US" sz="2190" spc="5" dirty="0">
                <a:latin typeface="Times New Roman"/>
                <a:cs typeface="Times New Roman"/>
              </a:rPr>
              <a:t>for</a:t>
            </a:r>
            <a:r>
              <a:rPr lang="en-US" sz="2190" spc="-5" dirty="0">
                <a:latin typeface="Times New Roman"/>
                <a:cs typeface="Times New Roman"/>
              </a:rPr>
              <a:t> </a:t>
            </a:r>
            <a:r>
              <a:rPr lang="en-US" sz="2190" spc="5" dirty="0">
                <a:latin typeface="Times New Roman"/>
                <a:cs typeface="Times New Roman"/>
              </a:rPr>
              <a:t>binary</a:t>
            </a:r>
            <a:r>
              <a:rPr lang="en-US" sz="2190" spc="25" dirty="0">
                <a:latin typeface="Times New Roman"/>
                <a:cs typeface="Times New Roman"/>
              </a:rPr>
              <a:t> </a:t>
            </a:r>
            <a:r>
              <a:rPr lang="en-US" sz="2190" spc="10" dirty="0">
                <a:latin typeface="Times New Roman"/>
                <a:cs typeface="Times New Roman"/>
              </a:rPr>
              <a:t>outcome</a:t>
            </a:r>
            <a:r>
              <a:rPr lang="en-US" sz="2190" spc="5" dirty="0">
                <a:latin typeface="Times New Roman"/>
                <a:cs typeface="Times New Roman"/>
              </a:rPr>
              <a:t> </a:t>
            </a:r>
            <a:r>
              <a:rPr lang="en-US" sz="2190" spc="10" dirty="0">
                <a:latin typeface="Times New Roman"/>
                <a:cs typeface="Times New Roman"/>
              </a:rPr>
              <a:t>compared</a:t>
            </a:r>
            <a:r>
              <a:rPr lang="en-US" sz="2190" dirty="0">
                <a:latin typeface="Times New Roman"/>
                <a:cs typeface="Times New Roman"/>
              </a:rPr>
              <a:t> </a:t>
            </a:r>
            <a:r>
              <a:rPr lang="en-US" sz="2190" spc="5" dirty="0">
                <a:latin typeface="Times New Roman"/>
                <a:cs typeface="Times New Roman"/>
              </a:rPr>
              <a:t>to</a:t>
            </a:r>
            <a:r>
              <a:rPr lang="en-US" sz="2190" spc="30" dirty="0">
                <a:latin typeface="Times New Roman"/>
                <a:cs typeface="Times New Roman"/>
              </a:rPr>
              <a:t> </a:t>
            </a:r>
            <a:r>
              <a:rPr lang="en-US" sz="2190" spc="5" dirty="0">
                <a:latin typeface="Times New Roman"/>
                <a:cs typeface="Times New Roman"/>
              </a:rPr>
              <a:t>linear</a:t>
            </a:r>
            <a:r>
              <a:rPr lang="en-US" sz="2190" spc="-5" dirty="0">
                <a:latin typeface="Times New Roman"/>
                <a:cs typeface="Times New Roman"/>
              </a:rPr>
              <a:t> </a:t>
            </a:r>
            <a:r>
              <a:rPr lang="en-US" sz="2190" spc="5" dirty="0">
                <a:latin typeface="Times New Roman"/>
                <a:cs typeface="Times New Roman"/>
              </a:rPr>
              <a:t>regression suitability</a:t>
            </a:r>
            <a:r>
              <a:rPr lang="en-US" sz="2190" dirty="0">
                <a:latin typeface="Times New Roman"/>
                <a:cs typeface="Times New Roman"/>
              </a:rPr>
              <a:t> </a:t>
            </a:r>
            <a:r>
              <a:rPr lang="en-US" sz="2190" spc="5" dirty="0">
                <a:latin typeface="Times New Roman"/>
                <a:cs typeface="Times New Roman"/>
              </a:rPr>
              <a:t>for</a:t>
            </a:r>
            <a:r>
              <a:rPr lang="en-US" sz="2190" dirty="0">
                <a:latin typeface="Times New Roman"/>
                <a:cs typeface="Times New Roman"/>
              </a:rPr>
              <a:t> </a:t>
            </a:r>
            <a:r>
              <a:rPr lang="en-US" sz="2190" spc="5" dirty="0">
                <a:latin typeface="Times New Roman"/>
                <a:cs typeface="Times New Roman"/>
              </a:rPr>
              <a:t>continuous </a:t>
            </a:r>
            <a:r>
              <a:rPr lang="en-US" sz="2190" spc="10" dirty="0">
                <a:latin typeface="Times New Roman"/>
                <a:cs typeface="Times New Roman"/>
              </a:rPr>
              <a:t> outcome</a:t>
            </a:r>
            <a:r>
              <a:rPr lang="en-US" sz="2190" spc="-25" dirty="0">
                <a:latin typeface="Times New Roman"/>
                <a:cs typeface="Times New Roman"/>
              </a:rPr>
              <a:t> </a:t>
            </a:r>
            <a:r>
              <a:rPr lang="en-US" sz="2190" spc="5" dirty="0">
                <a:latin typeface="Times New Roman"/>
                <a:cs typeface="Times New Roman"/>
              </a:rPr>
              <a:t>prediction.</a:t>
            </a:r>
            <a:endParaRPr lang="en-US" sz="2190" dirty="0">
              <a:latin typeface="Times New Roman"/>
              <a:cs typeface="Times New Roman"/>
            </a:endParaRPr>
          </a:p>
          <a:p>
            <a:pPr marL="354965" marR="109220" indent="-342900">
              <a:lnSpc>
                <a:spcPct val="103099"/>
              </a:lnSpc>
              <a:buFont typeface="Wingdings" panose="05000000000000000000" pitchFamily="2" charset="2"/>
              <a:buChar char="Ø"/>
              <a:tabLst>
                <a:tab pos="118110" algn="l"/>
              </a:tabLst>
            </a:pPr>
            <a:r>
              <a:rPr lang="en-US" sz="2190" dirty="0">
                <a:latin typeface="Times New Roman"/>
                <a:cs typeface="Times New Roman"/>
              </a:rPr>
              <a:t>Overemphasizing priority might lead to neglecting less critical but still necessary tasks, causing delays or inefficiencies in overall task management system offers advantages in terms of efficiency and meeting deadlines but should be implemented judiciously to maintain fairness and effectiveness in resource utilization.</a:t>
            </a:r>
          </a:p>
        </p:txBody>
      </p:sp>
      <p:sp>
        <p:nvSpPr>
          <p:cNvPr id="39" name="TextBox 38"/>
          <p:cNvSpPr txBox="1"/>
          <p:nvPr/>
        </p:nvSpPr>
        <p:spPr>
          <a:xfrm>
            <a:off x="-12911" y="28079615"/>
            <a:ext cx="21589523" cy="5425075"/>
          </a:xfrm>
          <a:prstGeom prst="rect">
            <a:avLst/>
          </a:prstGeom>
          <a:noFill/>
        </p:spPr>
        <p:txBody>
          <a:bodyPr wrap="square" rtlCol="0">
            <a:spAutoFit/>
          </a:bodyPr>
          <a:lstStyle/>
          <a:p>
            <a:pPr marL="405765" marR="30480" indent="-342900">
              <a:lnSpc>
                <a:spcPct val="104200"/>
              </a:lnSpc>
              <a:spcBef>
                <a:spcPts val="95"/>
              </a:spcBef>
              <a:buFont typeface="Wingdings" panose="05000000000000000000" pitchFamily="2" charset="2"/>
              <a:buChar char="Ø"/>
              <a:tabLst>
                <a:tab pos="168910" algn="l"/>
              </a:tabLst>
            </a:pPr>
            <a:r>
              <a:rPr lang="en-US" sz="2190" dirty="0">
                <a:latin typeface="Times New Roman" panose="02020603050405020304" pitchFamily="18" charset="0"/>
                <a:cs typeface="Times New Roman" panose="02020603050405020304" pitchFamily="18" charset="0"/>
              </a:rPr>
              <a:t>Cleland-Huang, J., et al. (2005). Goal-centric traceability for managing non-functional requirements. Proceedings of the 27th international conference on Software engineering, ACM. </a:t>
            </a:r>
          </a:p>
          <a:p>
            <a:pPr marL="405765" marR="30480" indent="-342900">
              <a:lnSpc>
                <a:spcPct val="104200"/>
              </a:lnSpc>
              <a:spcBef>
                <a:spcPts val="95"/>
              </a:spcBef>
              <a:buFont typeface="Wingdings" panose="05000000000000000000" pitchFamily="2" charset="2"/>
              <a:buChar char="Ø"/>
              <a:tabLst>
                <a:tab pos="168910" algn="l"/>
              </a:tabLst>
            </a:pPr>
            <a:r>
              <a:rPr lang="en-US" sz="2190" dirty="0">
                <a:latin typeface="Times New Roman" panose="02020603050405020304" pitchFamily="18" charset="0"/>
                <a:cs typeface="Times New Roman" panose="02020603050405020304" pitchFamily="18" charset="0"/>
              </a:rPr>
              <a:t>Cleland-Huang, J., et al. (2006). The detection and classification of non-functional requirements with application to early aspects. Requirements Engineering, 14th IEEE International Conference, IEEE. </a:t>
            </a:r>
          </a:p>
          <a:p>
            <a:pPr marL="405765" marR="30480" indent="-342900">
              <a:lnSpc>
                <a:spcPct val="104200"/>
              </a:lnSpc>
              <a:spcBef>
                <a:spcPts val="95"/>
              </a:spcBef>
              <a:buFont typeface="Wingdings" panose="05000000000000000000" pitchFamily="2" charset="2"/>
              <a:buChar char="Ø"/>
              <a:tabLst>
                <a:tab pos="168910" algn="l"/>
              </a:tabLst>
            </a:pPr>
            <a:r>
              <a:rPr lang="en-US" sz="2190" dirty="0">
                <a:latin typeface="Times New Roman" panose="02020603050405020304" pitchFamily="18" charset="0"/>
                <a:cs typeface="Times New Roman" panose="02020603050405020304" pitchFamily="18" charset="0"/>
              </a:rPr>
              <a:t>Cleland-Huang, J., et al. (2007). "Automated classification of non-functional requirements." Requirements Engineering 12(2): 103-120. </a:t>
            </a:r>
          </a:p>
          <a:p>
            <a:pPr marL="405765" marR="30480" indent="-342900">
              <a:lnSpc>
                <a:spcPct val="104200"/>
              </a:lnSpc>
              <a:spcBef>
                <a:spcPts val="95"/>
              </a:spcBef>
              <a:buFont typeface="Wingdings" panose="05000000000000000000" pitchFamily="2" charset="2"/>
              <a:buChar char="Ø"/>
              <a:tabLst>
                <a:tab pos="168910" algn="l"/>
              </a:tabLst>
            </a:pPr>
            <a:r>
              <a:rPr lang="en-US" sz="2190" dirty="0">
                <a:latin typeface="Times New Roman" panose="02020603050405020304" pitchFamily="18" charset="0"/>
                <a:cs typeface="Times New Roman" panose="02020603050405020304" pitchFamily="18" charset="0"/>
              </a:rPr>
              <a:t>Cysneiros, L. M. and J. C. S. do Prado Leite (2004). "Nonfunctional requirements: From elicitation to conceptual models." IEEE transactions on Software engineering 30(5) 328-350. </a:t>
            </a:r>
          </a:p>
          <a:p>
            <a:pPr marL="405765" marR="30480" indent="-342900">
              <a:lnSpc>
                <a:spcPct val="104200"/>
              </a:lnSpc>
              <a:spcBef>
                <a:spcPts val="95"/>
              </a:spcBef>
              <a:buFont typeface="Wingdings" panose="05000000000000000000" pitchFamily="2" charset="2"/>
              <a:buChar char="Ø"/>
              <a:tabLst>
                <a:tab pos="168910" algn="l"/>
              </a:tabLst>
            </a:pPr>
            <a:r>
              <a:rPr lang="en-US" sz="2190" dirty="0">
                <a:latin typeface="Times New Roman" panose="02020603050405020304" pitchFamily="18" charset="0"/>
                <a:cs typeface="Times New Roman" panose="02020603050405020304" pitchFamily="18" charset="0"/>
              </a:rPr>
              <a:t>Dan, L., et al. (2013). Research of text categorization on WEKA. Intelligent System Design and Engineering Applications (ISDEA), 2013 Third International Conference on, IEEE. </a:t>
            </a:r>
          </a:p>
          <a:p>
            <a:pPr marL="405765" marR="30480" indent="-342900">
              <a:lnSpc>
                <a:spcPct val="104200"/>
              </a:lnSpc>
              <a:spcBef>
                <a:spcPts val="95"/>
              </a:spcBef>
              <a:buFont typeface="Wingdings" panose="05000000000000000000" pitchFamily="2" charset="2"/>
              <a:buChar char="Ø"/>
              <a:tabLst>
                <a:tab pos="168910" algn="l"/>
              </a:tabLst>
            </a:pPr>
            <a:r>
              <a:rPr lang="en-US" sz="2190" dirty="0">
                <a:latin typeface="Times New Roman" panose="02020603050405020304" pitchFamily="18" charset="0"/>
                <a:cs typeface="Times New Roman" panose="02020603050405020304" pitchFamily="18" charset="0"/>
              </a:rPr>
              <a:t>Dörr, J., et al. (2003). Eliciting efficiency requirements with use cases. Ninth international workshop on requirements engineering: foundation for software quality. In conjunction with CAiSE. </a:t>
            </a:r>
          </a:p>
          <a:p>
            <a:pPr marL="405765" marR="30480" indent="-342900">
              <a:lnSpc>
                <a:spcPct val="104200"/>
              </a:lnSpc>
              <a:spcBef>
                <a:spcPts val="95"/>
              </a:spcBef>
              <a:buFont typeface="Wingdings" panose="05000000000000000000" pitchFamily="2" charset="2"/>
              <a:buChar char="Ø"/>
              <a:tabLst>
                <a:tab pos="168910" algn="l"/>
              </a:tabLst>
            </a:pPr>
            <a:r>
              <a:rPr lang="en-US" sz="2190" dirty="0">
                <a:latin typeface="Times New Roman" panose="02020603050405020304" pitchFamily="18" charset="0"/>
                <a:cs typeface="Times New Roman" panose="02020603050405020304" pitchFamily="18" charset="0"/>
              </a:rPr>
              <a:t>Dutoit, A. H., et al. (2007). Rationale management in software engineering, Springer Science &amp; Business Media.</a:t>
            </a:r>
            <a:endParaRPr lang="en-IN" sz="2190" i="1" spc="10" dirty="0">
              <a:solidFill>
                <a:srgbClr val="1F2121"/>
              </a:solidFill>
              <a:latin typeface="Times New Roman" panose="02020603050405020304" pitchFamily="18" charset="0"/>
              <a:cs typeface="Times New Roman" panose="02020603050405020304" pitchFamily="18" charset="0"/>
            </a:endParaRPr>
          </a:p>
          <a:p>
            <a:pPr marL="405765" marR="30480" indent="-342900">
              <a:lnSpc>
                <a:spcPct val="104200"/>
              </a:lnSpc>
              <a:spcBef>
                <a:spcPts val="95"/>
              </a:spcBef>
              <a:buFont typeface="Wingdings" panose="05000000000000000000" pitchFamily="2" charset="2"/>
              <a:buChar char="Ø"/>
              <a:tabLst>
                <a:tab pos="168910" algn="l"/>
              </a:tabLst>
            </a:pPr>
            <a:r>
              <a:rPr lang="en-IN" sz="2190" spc="10" dirty="0">
                <a:solidFill>
                  <a:srgbClr val="1F2121"/>
                </a:solidFill>
                <a:latin typeface="Times New Roman" panose="02020603050405020304" pitchFamily="18" charset="0"/>
                <a:cs typeface="Times New Roman" panose="02020603050405020304" pitchFamily="18" charset="0"/>
              </a:rPr>
              <a:t>Berry, P., K. Conley, M. Gervasio, B. Peintner, T. Uribe, and N. Yorke-Smith. 2006. Deploying a personalized time management agent. In 5th International Joint Conference on Autonomous Agents and Multi Agent Systems (AAMAS-06) Industrial Track, Hakodate, Japan, pp. 1564–1571.</a:t>
            </a:r>
          </a:p>
          <a:p>
            <a:pPr marL="405765" marR="30480" indent="-342900">
              <a:lnSpc>
                <a:spcPct val="104200"/>
              </a:lnSpc>
              <a:spcBef>
                <a:spcPts val="95"/>
              </a:spcBef>
              <a:buFont typeface="Wingdings" panose="05000000000000000000" pitchFamily="2" charset="2"/>
              <a:buChar char="Ø"/>
              <a:tabLst>
                <a:tab pos="168910" algn="l"/>
              </a:tabLst>
            </a:pPr>
            <a:r>
              <a:rPr lang="en-US" sz="2190" spc="10" dirty="0">
                <a:solidFill>
                  <a:srgbClr val="1F2121"/>
                </a:solidFill>
                <a:latin typeface="Times New Roman" panose="02020603050405020304" pitchFamily="18" charset="0"/>
                <a:cs typeface="Times New Roman" panose="02020603050405020304" pitchFamily="18" charset="0"/>
              </a:rPr>
              <a:t>Chin J. P., V. A. Diehl, and K. L. Norman. 1988. Development of an instrument measuring user satisfaction of the human–computer interface. In Proceedings of ACM/SIGCHI, Washington, DC, pp. 213–218.</a:t>
            </a:r>
            <a:endParaRPr lang="en-IN" sz="2190" dirty="0">
              <a:latin typeface="Arial"/>
              <a:cs typeface="Arial"/>
            </a:endParaRPr>
          </a:p>
          <a:p>
            <a:pPr algn="just"/>
            <a:endParaRPr lang="en-IN" sz="2190"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332117" y="20532920"/>
            <a:ext cx="21040630" cy="1746504"/>
          </a:xfrm>
          <a:prstGeom prst="rect">
            <a:avLst/>
          </a:prstGeom>
          <a:noFill/>
        </p:spPr>
        <p:txBody>
          <a:bodyPr wrap="square" rtlCol="0">
            <a:spAutoFit/>
          </a:bodyPr>
          <a:lstStyle/>
          <a:p>
            <a:pPr algn="just"/>
            <a:r>
              <a:rPr lang="en-US" sz="1990" b="1" dirty="0">
                <a:latin typeface="Times New Roman" panose="02020603050405020304" pitchFamily="18" charset="0"/>
                <a:cs typeface="Times New Roman" panose="02020603050405020304" pitchFamily="18" charset="0"/>
              </a:rPr>
              <a:t> </a:t>
            </a:r>
            <a:endParaRPr lang="en-US" sz="2190" b="1" spc="10" dirty="0">
              <a:latin typeface="Times New Roman"/>
              <a:cs typeface="Times New Roman"/>
            </a:endParaRPr>
          </a:p>
          <a:p>
            <a:pPr algn="just"/>
            <a:r>
              <a:rPr lang="en-US" sz="2190" spc="10" dirty="0">
                <a:latin typeface="Times New Roman"/>
                <a:cs typeface="Times New Roman"/>
              </a:rPr>
              <a:t>In</a:t>
            </a:r>
            <a:r>
              <a:rPr lang="en-US" sz="2190" spc="50" dirty="0">
                <a:latin typeface="Times New Roman"/>
                <a:cs typeface="Times New Roman"/>
              </a:rPr>
              <a:t> </a:t>
            </a:r>
            <a:r>
              <a:rPr lang="en-US" sz="2190" spc="5" dirty="0">
                <a:latin typeface="Times New Roman"/>
                <a:cs typeface="Times New Roman"/>
              </a:rPr>
              <a:t>the</a:t>
            </a:r>
            <a:r>
              <a:rPr lang="en-US" sz="2190" spc="50" dirty="0">
                <a:latin typeface="Times New Roman"/>
                <a:cs typeface="Times New Roman"/>
              </a:rPr>
              <a:t> </a:t>
            </a:r>
            <a:r>
              <a:rPr lang="en-US" sz="2190" spc="5" dirty="0">
                <a:latin typeface="Times New Roman"/>
                <a:cs typeface="Times New Roman"/>
              </a:rPr>
              <a:t>present</a:t>
            </a:r>
            <a:r>
              <a:rPr lang="en-US" sz="2190" spc="65" dirty="0">
                <a:latin typeface="Times New Roman"/>
                <a:cs typeface="Times New Roman"/>
              </a:rPr>
              <a:t> </a:t>
            </a:r>
            <a:r>
              <a:rPr lang="en-US" sz="2190" dirty="0">
                <a:latin typeface="Times New Roman"/>
                <a:cs typeface="Times New Roman"/>
              </a:rPr>
              <a:t>work,</a:t>
            </a:r>
            <a:r>
              <a:rPr lang="en-US" sz="2190" spc="55" dirty="0">
                <a:latin typeface="Times New Roman"/>
                <a:cs typeface="Times New Roman"/>
              </a:rPr>
              <a:t> </a:t>
            </a:r>
            <a:r>
              <a:rPr lang="en-US" sz="2190" spc="5" dirty="0">
                <a:latin typeface="Times New Roman"/>
                <a:cs typeface="Times New Roman"/>
              </a:rPr>
              <a:t>priority</a:t>
            </a:r>
            <a:r>
              <a:rPr lang="en-US" sz="2190" spc="40" dirty="0">
                <a:latin typeface="Times New Roman"/>
                <a:cs typeface="Times New Roman"/>
              </a:rPr>
              <a:t> </a:t>
            </a:r>
            <a:r>
              <a:rPr lang="en-US" sz="2190" spc="5" dirty="0">
                <a:latin typeface="Times New Roman"/>
                <a:cs typeface="Times New Roman"/>
              </a:rPr>
              <a:t>scheduling</a:t>
            </a:r>
            <a:r>
              <a:rPr lang="en-US" sz="2190" spc="60" dirty="0">
                <a:latin typeface="Times New Roman"/>
                <a:cs typeface="Times New Roman"/>
              </a:rPr>
              <a:t> </a:t>
            </a:r>
            <a:r>
              <a:rPr lang="en-US" sz="2190" spc="10" dirty="0">
                <a:latin typeface="Times New Roman"/>
                <a:cs typeface="Times New Roman"/>
              </a:rPr>
              <a:t>(PS)</a:t>
            </a:r>
            <a:r>
              <a:rPr lang="en-US" sz="2190" spc="60" dirty="0">
                <a:latin typeface="Times New Roman"/>
                <a:cs typeface="Times New Roman"/>
              </a:rPr>
              <a:t> </a:t>
            </a:r>
            <a:r>
              <a:rPr lang="en-US" sz="2190" spc="-5" dirty="0">
                <a:latin typeface="Times New Roman"/>
                <a:cs typeface="Times New Roman"/>
              </a:rPr>
              <a:t>is</a:t>
            </a:r>
            <a:r>
              <a:rPr lang="en-US" sz="2190" spc="60" dirty="0">
                <a:latin typeface="Times New Roman"/>
                <a:cs typeface="Times New Roman"/>
              </a:rPr>
              <a:t> </a:t>
            </a:r>
            <a:r>
              <a:rPr lang="en-US" sz="2190" spc="5" dirty="0">
                <a:latin typeface="Times New Roman"/>
                <a:cs typeface="Times New Roman"/>
              </a:rPr>
              <a:t>compared</a:t>
            </a:r>
            <a:r>
              <a:rPr lang="en-US" sz="2190" spc="50" dirty="0">
                <a:latin typeface="Times New Roman"/>
                <a:cs typeface="Times New Roman"/>
              </a:rPr>
              <a:t> </a:t>
            </a:r>
            <a:r>
              <a:rPr lang="en-US" sz="2190" spc="5" dirty="0">
                <a:latin typeface="Times New Roman"/>
                <a:cs typeface="Times New Roman"/>
              </a:rPr>
              <a:t>with</a:t>
            </a:r>
            <a:r>
              <a:rPr lang="en-US" sz="2190" spc="50" dirty="0">
                <a:latin typeface="Times New Roman"/>
                <a:cs typeface="Times New Roman"/>
              </a:rPr>
              <a:t> </a:t>
            </a:r>
            <a:r>
              <a:rPr lang="en-US" sz="2190" spc="5" dirty="0">
                <a:latin typeface="Times New Roman"/>
                <a:cs typeface="Times New Roman"/>
              </a:rPr>
              <a:t>first</a:t>
            </a:r>
            <a:r>
              <a:rPr lang="en-US" sz="2190" spc="65" dirty="0">
                <a:latin typeface="Times New Roman"/>
                <a:cs typeface="Times New Roman"/>
              </a:rPr>
              <a:t> </a:t>
            </a:r>
            <a:r>
              <a:rPr lang="en-US" sz="2190" spc="10" dirty="0">
                <a:latin typeface="Times New Roman"/>
                <a:cs typeface="Times New Roman"/>
              </a:rPr>
              <a:t>come</a:t>
            </a:r>
            <a:r>
              <a:rPr lang="en-US" sz="2190" spc="50" dirty="0">
                <a:latin typeface="Times New Roman"/>
                <a:cs typeface="Times New Roman"/>
              </a:rPr>
              <a:t> </a:t>
            </a:r>
            <a:r>
              <a:rPr lang="en-US" sz="2190" spc="5" dirty="0">
                <a:latin typeface="Times New Roman"/>
                <a:cs typeface="Times New Roman"/>
              </a:rPr>
              <a:t>first</a:t>
            </a:r>
            <a:r>
              <a:rPr lang="en-US" sz="2190" spc="50" dirty="0">
                <a:latin typeface="Times New Roman"/>
                <a:cs typeface="Times New Roman"/>
              </a:rPr>
              <a:t> </a:t>
            </a:r>
            <a:r>
              <a:rPr lang="en-US" sz="2190" dirty="0">
                <a:latin typeface="Times New Roman"/>
                <a:cs typeface="Times New Roman"/>
              </a:rPr>
              <a:t>sreve</a:t>
            </a:r>
            <a:r>
              <a:rPr lang="en-US" sz="2190" spc="55" dirty="0">
                <a:latin typeface="Times New Roman"/>
                <a:cs typeface="Times New Roman"/>
              </a:rPr>
              <a:t> </a:t>
            </a:r>
            <a:r>
              <a:rPr lang="en-US" sz="2190" spc="5" dirty="0">
                <a:latin typeface="Times New Roman"/>
                <a:cs typeface="Times New Roman"/>
              </a:rPr>
              <a:t>(FCFS)</a:t>
            </a:r>
            <a:r>
              <a:rPr lang="en-US" sz="2190" spc="50" dirty="0">
                <a:latin typeface="Times New Roman"/>
                <a:cs typeface="Times New Roman"/>
              </a:rPr>
              <a:t> </a:t>
            </a:r>
            <a:r>
              <a:rPr lang="en-US" sz="2190" spc="10" dirty="0">
                <a:latin typeface="Times New Roman"/>
                <a:cs typeface="Times New Roman"/>
              </a:rPr>
              <a:t>and</a:t>
            </a:r>
            <a:r>
              <a:rPr lang="en-US" sz="2190" spc="50" dirty="0">
                <a:latin typeface="Times New Roman"/>
                <a:cs typeface="Times New Roman"/>
              </a:rPr>
              <a:t> </a:t>
            </a:r>
            <a:r>
              <a:rPr lang="en-US" sz="2190" spc="5" dirty="0">
                <a:latin typeface="Times New Roman"/>
                <a:cs typeface="Times New Roman"/>
              </a:rPr>
              <a:t>it</a:t>
            </a:r>
            <a:r>
              <a:rPr lang="en-US" sz="2190" spc="55" dirty="0">
                <a:latin typeface="Times New Roman"/>
                <a:cs typeface="Times New Roman"/>
              </a:rPr>
              <a:t> </a:t>
            </a:r>
            <a:r>
              <a:rPr lang="en-US" sz="2190" spc="5" dirty="0">
                <a:latin typeface="Times New Roman"/>
                <a:cs typeface="Times New Roman"/>
              </a:rPr>
              <a:t>depicts</a:t>
            </a:r>
            <a:r>
              <a:rPr lang="en-US" sz="2190" spc="55" dirty="0">
                <a:latin typeface="Times New Roman"/>
                <a:cs typeface="Times New Roman"/>
              </a:rPr>
              <a:t> </a:t>
            </a:r>
            <a:r>
              <a:rPr lang="en-US" sz="2190" spc="5" dirty="0">
                <a:latin typeface="Times New Roman"/>
                <a:cs typeface="Times New Roman"/>
              </a:rPr>
              <a:t>that</a:t>
            </a:r>
            <a:r>
              <a:rPr lang="en-US" sz="2190" spc="55" dirty="0">
                <a:latin typeface="Times New Roman"/>
                <a:cs typeface="Times New Roman"/>
              </a:rPr>
              <a:t> </a:t>
            </a:r>
            <a:r>
              <a:rPr lang="en-US" sz="2190" dirty="0">
                <a:latin typeface="Times New Roman"/>
                <a:cs typeface="Times New Roman"/>
              </a:rPr>
              <a:t>the</a:t>
            </a:r>
            <a:r>
              <a:rPr lang="en-US" sz="2190" spc="50" dirty="0">
                <a:latin typeface="Times New Roman"/>
                <a:cs typeface="Times New Roman"/>
              </a:rPr>
              <a:t> </a:t>
            </a:r>
            <a:r>
              <a:rPr lang="en-US" sz="2190" spc="5" dirty="0">
                <a:latin typeface="Times New Roman"/>
                <a:cs typeface="Times New Roman"/>
              </a:rPr>
              <a:t>proposed</a:t>
            </a:r>
            <a:r>
              <a:rPr lang="en-US" sz="2190" spc="50" dirty="0">
                <a:latin typeface="Times New Roman"/>
                <a:cs typeface="Times New Roman"/>
              </a:rPr>
              <a:t> </a:t>
            </a:r>
            <a:r>
              <a:rPr lang="en-US" sz="2190" spc="5" dirty="0">
                <a:latin typeface="Times New Roman"/>
                <a:cs typeface="Times New Roman"/>
              </a:rPr>
              <a:t>algorithm</a:t>
            </a:r>
            <a:r>
              <a:rPr lang="en-US" sz="2190" spc="70" dirty="0">
                <a:latin typeface="Times New Roman"/>
                <a:cs typeface="Times New Roman"/>
              </a:rPr>
              <a:t> </a:t>
            </a:r>
            <a:r>
              <a:rPr lang="en-US" sz="2190" spc="10" dirty="0">
                <a:latin typeface="Times New Roman"/>
                <a:cs typeface="Times New Roman"/>
              </a:rPr>
              <a:t>gives</a:t>
            </a:r>
            <a:r>
              <a:rPr lang="en-US" sz="2190" spc="35" dirty="0">
                <a:latin typeface="Times New Roman"/>
                <a:cs typeface="Times New Roman"/>
              </a:rPr>
              <a:t> </a:t>
            </a:r>
            <a:r>
              <a:rPr lang="en-US" sz="2190" spc="10" dirty="0">
                <a:latin typeface="Times New Roman"/>
                <a:cs typeface="Times New Roman"/>
              </a:rPr>
              <a:t>more</a:t>
            </a:r>
            <a:r>
              <a:rPr lang="en-US" sz="2190" spc="50" dirty="0">
                <a:latin typeface="Times New Roman"/>
                <a:cs typeface="Times New Roman"/>
              </a:rPr>
              <a:t> </a:t>
            </a:r>
            <a:r>
              <a:rPr lang="en-US" sz="2190" spc="5" dirty="0">
                <a:latin typeface="Times New Roman"/>
                <a:cs typeface="Times New Roman"/>
              </a:rPr>
              <a:t>accuracy</a:t>
            </a:r>
            <a:r>
              <a:rPr lang="en-US" sz="2190" spc="50" dirty="0">
                <a:latin typeface="Times New Roman"/>
                <a:cs typeface="Times New Roman"/>
              </a:rPr>
              <a:t> </a:t>
            </a:r>
            <a:r>
              <a:rPr lang="en-US" sz="2190" spc="5" dirty="0">
                <a:latin typeface="Times New Roman"/>
                <a:cs typeface="Times New Roman"/>
              </a:rPr>
              <a:t>when</a:t>
            </a:r>
            <a:r>
              <a:rPr lang="en-US" sz="2190" spc="50" dirty="0">
                <a:latin typeface="Times New Roman"/>
                <a:cs typeface="Times New Roman"/>
              </a:rPr>
              <a:t> </a:t>
            </a:r>
            <a:r>
              <a:rPr lang="en-US" sz="2190" spc="10" dirty="0">
                <a:latin typeface="Times New Roman"/>
                <a:cs typeface="Times New Roman"/>
              </a:rPr>
              <a:t>compared </a:t>
            </a:r>
            <a:r>
              <a:rPr lang="en-US" sz="2190" spc="15" dirty="0">
                <a:latin typeface="Times New Roman"/>
                <a:cs typeface="Times New Roman"/>
              </a:rPr>
              <a:t> </a:t>
            </a:r>
            <a:r>
              <a:rPr lang="en-US" sz="2190" spc="5" dirty="0">
                <a:latin typeface="Times New Roman"/>
                <a:cs typeface="Times New Roman"/>
              </a:rPr>
              <a:t>with the priority scheduling. </a:t>
            </a:r>
            <a:r>
              <a:rPr lang="en-US" sz="2190" spc="10" dirty="0">
                <a:latin typeface="Times New Roman"/>
                <a:cs typeface="Times New Roman"/>
              </a:rPr>
              <a:t>First come </a:t>
            </a:r>
            <a:r>
              <a:rPr lang="en-US" sz="2190" dirty="0">
                <a:latin typeface="Times New Roman"/>
                <a:cs typeface="Times New Roman"/>
              </a:rPr>
              <a:t>first </a:t>
            </a:r>
            <a:r>
              <a:rPr lang="en-US" sz="2190" spc="5" dirty="0">
                <a:latin typeface="Times New Roman"/>
                <a:cs typeface="Times New Roman"/>
              </a:rPr>
              <a:t>sreve outperforms </a:t>
            </a:r>
            <a:r>
              <a:rPr lang="en-US" sz="2190" spc="10" dirty="0">
                <a:latin typeface="Times New Roman"/>
                <a:cs typeface="Times New Roman"/>
              </a:rPr>
              <a:t>in </a:t>
            </a:r>
            <a:r>
              <a:rPr lang="en-US" sz="2190" spc="5" dirty="0">
                <a:latin typeface="Times New Roman"/>
                <a:cs typeface="Times New Roman"/>
              </a:rPr>
              <a:t>priority scheduling </a:t>
            </a:r>
            <a:r>
              <a:rPr lang="en-US" sz="2190" spc="10" dirty="0">
                <a:latin typeface="Times New Roman"/>
                <a:cs typeface="Times New Roman"/>
              </a:rPr>
              <a:t>in </a:t>
            </a:r>
            <a:r>
              <a:rPr lang="en-US" sz="2190" spc="5" dirty="0">
                <a:latin typeface="Times New Roman"/>
                <a:cs typeface="Times New Roman"/>
              </a:rPr>
              <a:t>task </a:t>
            </a:r>
            <a:r>
              <a:rPr lang="en-US" sz="2190" spc="10" dirty="0">
                <a:latin typeface="Times New Roman"/>
                <a:cs typeface="Times New Roman"/>
              </a:rPr>
              <a:t>management </a:t>
            </a:r>
            <a:r>
              <a:rPr lang="en-US" sz="2190" spc="5" dirty="0">
                <a:latin typeface="Times New Roman"/>
                <a:cs typeface="Times New Roman"/>
              </a:rPr>
              <a:t>system  by better handling binary </a:t>
            </a:r>
            <a:r>
              <a:rPr lang="en-US" sz="2190" spc="10" dirty="0">
                <a:latin typeface="Times New Roman"/>
                <a:cs typeface="Times New Roman"/>
              </a:rPr>
              <a:t>outcome </a:t>
            </a:r>
            <a:r>
              <a:rPr lang="en-US" sz="2190" spc="5" dirty="0">
                <a:latin typeface="Times New Roman"/>
                <a:cs typeface="Times New Roman"/>
              </a:rPr>
              <a:t>prediction </a:t>
            </a:r>
            <a:r>
              <a:rPr lang="en-US" sz="2190" spc="10" dirty="0">
                <a:latin typeface="Times New Roman"/>
                <a:cs typeface="Times New Roman"/>
              </a:rPr>
              <a:t>and </a:t>
            </a:r>
            <a:r>
              <a:rPr lang="en-US" sz="2190" spc="5" dirty="0">
                <a:latin typeface="Times New Roman"/>
                <a:cs typeface="Times New Roman"/>
              </a:rPr>
              <a:t>proving </a:t>
            </a:r>
            <a:r>
              <a:rPr lang="en-US" sz="2190" spc="10" dirty="0">
                <a:latin typeface="Times New Roman"/>
                <a:cs typeface="Times New Roman"/>
              </a:rPr>
              <a:t> more</a:t>
            </a:r>
            <a:r>
              <a:rPr lang="en-US" sz="2190" spc="-15" dirty="0">
                <a:latin typeface="Times New Roman"/>
                <a:cs typeface="Times New Roman"/>
              </a:rPr>
              <a:t> </a:t>
            </a:r>
            <a:r>
              <a:rPr lang="en-US" sz="2190" spc="5" dirty="0">
                <a:latin typeface="Times New Roman"/>
                <a:cs typeface="Times New Roman"/>
              </a:rPr>
              <a:t>accurate</a:t>
            </a:r>
            <a:r>
              <a:rPr lang="en-US" sz="2190" spc="-5" dirty="0">
                <a:latin typeface="Times New Roman"/>
                <a:cs typeface="Times New Roman"/>
              </a:rPr>
              <a:t> </a:t>
            </a:r>
            <a:r>
              <a:rPr lang="en-US" sz="2190" spc="5" dirty="0">
                <a:latin typeface="Times New Roman"/>
                <a:cs typeface="Times New Roman"/>
              </a:rPr>
              <a:t>classification</a:t>
            </a:r>
            <a:endParaRPr lang="en-US" sz="2190" dirty="0">
              <a:latin typeface="Times New Roman"/>
              <a:cs typeface="Times New Roman"/>
            </a:endParaRPr>
          </a:p>
          <a:p>
            <a:pPr algn="just"/>
            <a:endParaRPr lang="en-US" sz="2189" b="1" dirty="0">
              <a:latin typeface="Times New Roman" panose="02020603050405020304" pitchFamily="18" charset="0"/>
              <a:cs typeface="Times New Roman" panose="02020603050405020304" pitchFamily="18" charset="0"/>
            </a:endParaRPr>
          </a:p>
        </p:txBody>
      </p:sp>
      <p:sp>
        <p:nvSpPr>
          <p:cNvPr id="30" name="Text Box 29"/>
          <p:cNvSpPr txBox="1"/>
          <p:nvPr/>
        </p:nvSpPr>
        <p:spPr>
          <a:xfrm>
            <a:off x="5921132" y="24475579"/>
            <a:ext cx="15955024" cy="366524"/>
          </a:xfrm>
          <a:prstGeom prst="rect">
            <a:avLst/>
          </a:prstGeom>
          <a:noFill/>
        </p:spPr>
        <p:txBody>
          <a:bodyPr wrap="square" rtlCol="0">
            <a:spAutoFit/>
          </a:bodyPr>
          <a:lstStyle/>
          <a:p>
            <a:endParaRPr lang="en-US" sz="1791"/>
          </a:p>
        </p:txBody>
      </p:sp>
      <p:sp>
        <p:nvSpPr>
          <p:cNvPr id="12" name="Text Box 11"/>
          <p:cNvSpPr txBox="1"/>
          <p:nvPr/>
        </p:nvSpPr>
        <p:spPr>
          <a:xfrm>
            <a:off x="10217334" y="19709505"/>
            <a:ext cx="4699191" cy="398571"/>
          </a:xfrm>
          <a:prstGeom prst="rect">
            <a:avLst/>
          </a:prstGeom>
          <a:noFill/>
        </p:spPr>
        <p:txBody>
          <a:bodyPr wrap="square" rtlCol="0">
            <a:spAutoFit/>
          </a:bodyPr>
          <a:lstStyle/>
          <a:p>
            <a:r>
              <a:rPr lang="en-US" sz="1990" b="1" dirty="0">
                <a:latin typeface="Times New Roman" panose="02020603050405020304" pitchFamily="18" charset="0"/>
                <a:cs typeface="Times New Roman" panose="02020603050405020304" pitchFamily="18" charset="0"/>
              </a:rPr>
              <a:t>             </a:t>
            </a:r>
            <a:endParaRPr lang="en-US" sz="2189" b="1" dirty="0">
              <a:latin typeface="Times New Roman" panose="02020603050405020304" pitchFamily="18" charset="0"/>
              <a:cs typeface="Times New Roman" panose="02020603050405020304" pitchFamily="18" charset="0"/>
            </a:endParaRPr>
          </a:p>
        </p:txBody>
      </p:sp>
      <p:sp>
        <p:nvSpPr>
          <p:cNvPr id="41" name="Text Box 40"/>
          <p:cNvSpPr txBox="1"/>
          <p:nvPr/>
        </p:nvSpPr>
        <p:spPr>
          <a:xfrm>
            <a:off x="913336" y="15395965"/>
            <a:ext cx="17162367" cy="429220"/>
          </a:xfrm>
          <a:prstGeom prst="rect">
            <a:avLst/>
          </a:prstGeom>
          <a:noFill/>
        </p:spPr>
        <p:txBody>
          <a:bodyPr wrap="square" rtlCol="0">
            <a:spAutoFit/>
          </a:bodyPr>
          <a:lstStyle/>
          <a:p>
            <a:r>
              <a:rPr lang="en-US" sz="2189" b="1" dirty="0">
                <a:latin typeface="Times New Roman" panose="02020603050405020304" pitchFamily="18" charset="0"/>
                <a:cs typeface="Times New Roman" panose="02020603050405020304" pitchFamily="18" charset="0"/>
              </a:rPr>
              <a:t>                                                                                            task management system algorithm </a:t>
            </a:r>
          </a:p>
        </p:txBody>
      </p:sp>
      <p:sp>
        <p:nvSpPr>
          <p:cNvPr id="49" name="Rectangle 48"/>
          <p:cNvSpPr/>
          <p:nvPr/>
        </p:nvSpPr>
        <p:spPr>
          <a:xfrm>
            <a:off x="16106" y="-50532"/>
            <a:ext cx="21571523"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Mr. V.VAMSI</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192212079</a:t>
            </a:r>
          </a:p>
          <a:p>
            <a:pPr algn="r"/>
            <a:r>
              <a:rPr lang="en-US" sz="2189" b="1">
                <a:solidFill>
                  <a:schemeClr val="bg1"/>
                </a:solidFill>
                <a:latin typeface="Times New Roman" panose="02020603050405020304" pitchFamily="18" charset="0"/>
                <a:cs typeface="Times New Roman" panose="02020603050405020304" pitchFamily="18" charset="0"/>
              </a:rPr>
              <a:t>Guided </a:t>
            </a:r>
            <a:r>
              <a:rPr lang="en-US" sz="2189" b="1" dirty="0">
                <a:solidFill>
                  <a:schemeClr val="bg1"/>
                </a:solidFill>
                <a:latin typeface="Times New Roman" panose="02020603050405020304" pitchFamily="18" charset="0"/>
                <a:cs typeface="Times New Roman" panose="02020603050405020304" pitchFamily="18" charset="0"/>
              </a:rPr>
              <a:t>by  Dr. R.DINESH KUMAR </a:t>
            </a:r>
          </a:p>
        </p:txBody>
      </p:sp>
      <p:graphicFrame>
        <p:nvGraphicFramePr>
          <p:cNvPr id="54" name="Table 53">
            <a:extLst>
              <a:ext uri="{FF2B5EF4-FFF2-40B4-BE49-F238E27FC236}">
                <a16:creationId xmlns:a16="http://schemas.microsoft.com/office/drawing/2014/main" id="{BB50154F-59BB-5E11-C668-7949F724768A}"/>
              </a:ext>
            </a:extLst>
          </p:cNvPr>
          <p:cNvGraphicFramePr>
            <a:graphicFrameLocks noGrp="1"/>
          </p:cNvGraphicFramePr>
          <p:nvPr>
            <p:extLst>
              <p:ext uri="{D42A27DB-BD31-4B8C-83A1-F6EECF244321}">
                <p14:modId xmlns:p14="http://schemas.microsoft.com/office/powerpoint/2010/main" val="3343517221"/>
              </p:ext>
            </p:extLst>
          </p:nvPr>
        </p:nvGraphicFramePr>
        <p:xfrm>
          <a:off x="9494520" y="16407539"/>
          <a:ext cx="11342307" cy="4017552"/>
        </p:xfrm>
        <a:graphic>
          <a:graphicData uri="http://schemas.openxmlformats.org/drawingml/2006/table">
            <a:tbl>
              <a:tblPr firstRow="1" bandRow="1">
                <a:tableStyleId>{5C22544A-7EE6-4342-B048-85BDC9FD1C3A}</a:tableStyleId>
              </a:tblPr>
              <a:tblGrid>
                <a:gridCol w="1867907">
                  <a:extLst>
                    <a:ext uri="{9D8B030D-6E8A-4147-A177-3AD203B41FA5}">
                      <a16:colId xmlns:a16="http://schemas.microsoft.com/office/drawing/2014/main" val="4186321180"/>
                    </a:ext>
                  </a:extLst>
                </a:gridCol>
                <a:gridCol w="1894880">
                  <a:extLst>
                    <a:ext uri="{9D8B030D-6E8A-4147-A177-3AD203B41FA5}">
                      <a16:colId xmlns:a16="http://schemas.microsoft.com/office/drawing/2014/main" val="1475209150"/>
                    </a:ext>
                  </a:extLst>
                </a:gridCol>
                <a:gridCol w="1894880">
                  <a:extLst>
                    <a:ext uri="{9D8B030D-6E8A-4147-A177-3AD203B41FA5}">
                      <a16:colId xmlns:a16="http://schemas.microsoft.com/office/drawing/2014/main" val="4171049580"/>
                    </a:ext>
                  </a:extLst>
                </a:gridCol>
                <a:gridCol w="1894880">
                  <a:extLst>
                    <a:ext uri="{9D8B030D-6E8A-4147-A177-3AD203B41FA5}">
                      <a16:colId xmlns:a16="http://schemas.microsoft.com/office/drawing/2014/main" val="2874993138"/>
                    </a:ext>
                  </a:extLst>
                </a:gridCol>
                <a:gridCol w="1894880">
                  <a:extLst>
                    <a:ext uri="{9D8B030D-6E8A-4147-A177-3AD203B41FA5}">
                      <a16:colId xmlns:a16="http://schemas.microsoft.com/office/drawing/2014/main" val="2412966990"/>
                    </a:ext>
                  </a:extLst>
                </a:gridCol>
                <a:gridCol w="1894880">
                  <a:extLst>
                    <a:ext uri="{9D8B030D-6E8A-4147-A177-3AD203B41FA5}">
                      <a16:colId xmlns:a16="http://schemas.microsoft.com/office/drawing/2014/main" val="3389125739"/>
                    </a:ext>
                  </a:extLst>
                </a:gridCol>
              </a:tblGrid>
              <a:tr h="1339184">
                <a:tc>
                  <a:txBody>
                    <a:bodyPr/>
                    <a:lstStyle/>
                    <a:p>
                      <a:endParaRPr lang="en-IN"/>
                    </a:p>
                  </a:txBody>
                  <a:tcPr/>
                </a:tc>
                <a:tc>
                  <a:txBody>
                    <a:bodyPr/>
                    <a:lstStyle/>
                    <a:p>
                      <a:r>
                        <a:rPr lang="en-IN" sz="2190" b="0" dirty="0">
                          <a:solidFill>
                            <a:schemeClr val="tx1"/>
                          </a:solidFill>
                        </a:rPr>
                        <a:t>Algorithm</a:t>
                      </a:r>
                    </a:p>
                  </a:txBody>
                  <a:tcPr/>
                </a:tc>
                <a:tc>
                  <a:txBody>
                    <a:bodyPr/>
                    <a:lstStyle/>
                    <a:p>
                      <a:r>
                        <a:rPr lang="en-IN" sz="2190" b="0" dirty="0">
                          <a:solidFill>
                            <a:schemeClr val="tx1"/>
                          </a:solidFill>
                        </a:rPr>
                        <a:t>         N        </a:t>
                      </a:r>
                    </a:p>
                  </a:txBody>
                  <a:tcPr/>
                </a:tc>
                <a:tc>
                  <a:txBody>
                    <a:bodyPr/>
                    <a:lstStyle/>
                    <a:p>
                      <a:r>
                        <a:rPr lang="en-IN" sz="2190" b="0" dirty="0">
                          <a:solidFill>
                            <a:schemeClr val="tx1"/>
                          </a:solidFill>
                        </a:rPr>
                        <a:t>     Mean</a:t>
                      </a:r>
                    </a:p>
                  </a:txBody>
                  <a:tcPr/>
                </a:tc>
                <a:tc>
                  <a:txBody>
                    <a:bodyPr/>
                    <a:lstStyle/>
                    <a:p>
                      <a:r>
                        <a:rPr lang="en-IN" sz="2190" dirty="0">
                          <a:solidFill>
                            <a:schemeClr val="tx1"/>
                          </a:solidFill>
                        </a:rPr>
                        <a:t>Std.Deviation</a:t>
                      </a:r>
                    </a:p>
                  </a:txBody>
                  <a:tcPr/>
                </a:tc>
                <a:tc>
                  <a:txBody>
                    <a:bodyPr/>
                    <a:lstStyle/>
                    <a:p>
                      <a:r>
                        <a:rPr lang="en-IN" sz="2190" dirty="0">
                          <a:solidFill>
                            <a:schemeClr val="tx1"/>
                          </a:solidFill>
                        </a:rPr>
                        <a:t>Std.error Mean</a:t>
                      </a:r>
                    </a:p>
                  </a:txBody>
                  <a:tcPr/>
                </a:tc>
                <a:extLst>
                  <a:ext uri="{0D108BD9-81ED-4DB2-BD59-A6C34878D82A}">
                    <a16:rowId xmlns:a16="http://schemas.microsoft.com/office/drawing/2014/main" val="3875242646"/>
                  </a:ext>
                </a:extLst>
              </a:tr>
              <a:tr h="1339184">
                <a:tc>
                  <a:txBody>
                    <a:bodyPr/>
                    <a:lstStyle/>
                    <a:p>
                      <a:r>
                        <a:rPr lang="en-IN" sz="2190" b="1" dirty="0"/>
                        <a:t>   </a:t>
                      </a:r>
                      <a:r>
                        <a:rPr lang="en-IN" sz="2190" b="0" dirty="0"/>
                        <a:t>Accuracy </a:t>
                      </a:r>
                    </a:p>
                  </a:txBody>
                  <a:tcPr/>
                </a:tc>
                <a:tc>
                  <a:txBody>
                    <a:bodyPr/>
                    <a:lstStyle/>
                    <a:p>
                      <a:r>
                        <a:rPr lang="en-IN" sz="2190" dirty="0"/>
                        <a:t>Priority Scheduling</a:t>
                      </a:r>
                    </a:p>
                  </a:txBody>
                  <a:tcPr/>
                </a:tc>
                <a:tc>
                  <a:txBody>
                    <a:bodyPr/>
                    <a:lstStyle/>
                    <a:p>
                      <a:r>
                        <a:rPr lang="en-IN" sz="2190" dirty="0"/>
                        <a:t>          10</a:t>
                      </a:r>
                    </a:p>
                  </a:txBody>
                  <a:tcPr/>
                </a:tc>
                <a:tc>
                  <a:txBody>
                    <a:bodyPr/>
                    <a:lstStyle/>
                    <a:p>
                      <a:r>
                        <a:rPr lang="en-IN" sz="2190" dirty="0"/>
                        <a:t>    83.4000</a:t>
                      </a:r>
                    </a:p>
                  </a:txBody>
                  <a:tcPr/>
                </a:tc>
                <a:tc>
                  <a:txBody>
                    <a:bodyPr/>
                    <a:lstStyle/>
                    <a:p>
                      <a:r>
                        <a:rPr lang="en-IN" sz="2190" dirty="0"/>
                        <a:t>    8.24891</a:t>
                      </a:r>
                    </a:p>
                  </a:txBody>
                  <a:tcPr/>
                </a:tc>
                <a:tc>
                  <a:txBody>
                    <a:bodyPr/>
                    <a:lstStyle/>
                    <a:p>
                      <a:r>
                        <a:rPr lang="en-IN" sz="2190" dirty="0"/>
                        <a:t>   2.60853</a:t>
                      </a:r>
                    </a:p>
                  </a:txBody>
                  <a:tcPr/>
                </a:tc>
                <a:extLst>
                  <a:ext uri="{0D108BD9-81ED-4DB2-BD59-A6C34878D82A}">
                    <a16:rowId xmlns:a16="http://schemas.microsoft.com/office/drawing/2014/main" val="3086649111"/>
                  </a:ext>
                </a:extLst>
              </a:tr>
              <a:tr h="1339184">
                <a:tc>
                  <a:txBody>
                    <a:bodyPr/>
                    <a:lstStyle/>
                    <a:p>
                      <a:endParaRPr lang="en-IN"/>
                    </a:p>
                  </a:txBody>
                  <a:tcPr/>
                </a:tc>
                <a:tc>
                  <a:txBody>
                    <a:bodyPr/>
                    <a:lstStyle/>
                    <a:p>
                      <a:r>
                        <a:rPr lang="en-IN" sz="2190" dirty="0"/>
                        <a:t>First come First Sreve</a:t>
                      </a:r>
                    </a:p>
                  </a:txBody>
                  <a:tcPr/>
                </a:tc>
                <a:tc>
                  <a:txBody>
                    <a:bodyPr/>
                    <a:lstStyle/>
                    <a:p>
                      <a:r>
                        <a:rPr lang="en-IN" sz="2190" dirty="0"/>
                        <a:t>          10</a:t>
                      </a:r>
                    </a:p>
                  </a:txBody>
                  <a:tcPr/>
                </a:tc>
                <a:tc>
                  <a:txBody>
                    <a:bodyPr/>
                    <a:lstStyle/>
                    <a:p>
                      <a:r>
                        <a:rPr lang="en-IN" sz="2190" dirty="0"/>
                        <a:t>     85.0000</a:t>
                      </a:r>
                    </a:p>
                  </a:txBody>
                  <a:tcPr/>
                </a:tc>
                <a:tc>
                  <a:txBody>
                    <a:bodyPr/>
                    <a:lstStyle/>
                    <a:p>
                      <a:r>
                        <a:rPr lang="en-IN" sz="2190" dirty="0"/>
                        <a:t>     5.53775</a:t>
                      </a:r>
                    </a:p>
                  </a:txBody>
                  <a:tcPr/>
                </a:tc>
                <a:tc>
                  <a:txBody>
                    <a:bodyPr/>
                    <a:lstStyle/>
                    <a:p>
                      <a:r>
                        <a:rPr lang="en-IN" sz="2190" dirty="0"/>
                        <a:t>    1.75119</a:t>
                      </a:r>
                    </a:p>
                  </a:txBody>
                  <a:tcPr/>
                </a:tc>
                <a:extLst>
                  <a:ext uri="{0D108BD9-81ED-4DB2-BD59-A6C34878D82A}">
                    <a16:rowId xmlns:a16="http://schemas.microsoft.com/office/drawing/2014/main" val="2815280301"/>
                  </a:ext>
                </a:extLst>
              </a:tr>
            </a:tbl>
          </a:graphicData>
        </a:graphic>
      </p:graphicFrame>
      <p:pic>
        <p:nvPicPr>
          <p:cNvPr id="55" name="object 39">
            <a:extLst>
              <a:ext uri="{FF2B5EF4-FFF2-40B4-BE49-F238E27FC236}">
                <a16:creationId xmlns:a16="http://schemas.microsoft.com/office/drawing/2014/main" id="{54144A24-108B-52C4-FCA5-8B269CB96D90}"/>
              </a:ext>
            </a:extLst>
          </p:cNvPr>
          <p:cNvPicPr/>
          <p:nvPr/>
        </p:nvPicPr>
        <p:blipFill>
          <a:blip r:embed="rId3" cstate="print"/>
          <a:stretch>
            <a:fillRect/>
          </a:stretch>
        </p:blipFill>
        <p:spPr>
          <a:xfrm>
            <a:off x="-41131" y="16407539"/>
            <a:ext cx="8909448" cy="4054008"/>
          </a:xfrm>
          <a:prstGeom prst="rect">
            <a:avLst/>
          </a:prstGeom>
        </p:spPr>
      </p:pic>
      <p:pic>
        <p:nvPicPr>
          <p:cNvPr id="56" name="object 38">
            <a:extLst>
              <a:ext uri="{FF2B5EF4-FFF2-40B4-BE49-F238E27FC236}">
                <a16:creationId xmlns:a16="http://schemas.microsoft.com/office/drawing/2014/main" id="{A47EBAD6-D0D4-11C5-07B0-012B925B3E0C}"/>
              </a:ext>
            </a:extLst>
          </p:cNvPr>
          <p:cNvPicPr/>
          <p:nvPr/>
        </p:nvPicPr>
        <p:blipFill>
          <a:blip r:embed="rId4" cstate="print"/>
          <a:stretch>
            <a:fillRect/>
          </a:stretch>
        </p:blipFill>
        <p:spPr>
          <a:xfrm>
            <a:off x="14916525" y="4009282"/>
            <a:ext cx="6670089" cy="6019679"/>
          </a:xfrm>
          <a:prstGeom prst="rect">
            <a:avLst/>
          </a:prstGeom>
        </p:spPr>
      </p:pic>
      <p:sp>
        <p:nvSpPr>
          <p:cNvPr id="3" name="Rectangle: Rounded Corners 2">
            <a:extLst>
              <a:ext uri="{FF2B5EF4-FFF2-40B4-BE49-F238E27FC236}">
                <a16:creationId xmlns:a16="http://schemas.microsoft.com/office/drawing/2014/main" id="{B1391C10-B651-8EE0-43AA-A4959A5F5A89}"/>
              </a:ext>
            </a:extLst>
          </p:cNvPr>
          <p:cNvSpPr/>
          <p:nvPr/>
        </p:nvSpPr>
        <p:spPr>
          <a:xfrm>
            <a:off x="25137" y="12297847"/>
            <a:ext cx="3046887" cy="2715632"/>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Start</a:t>
            </a:r>
          </a:p>
        </p:txBody>
      </p:sp>
      <p:sp>
        <p:nvSpPr>
          <p:cNvPr id="9" name="Rectangle: Rounded Corners 8">
            <a:extLst>
              <a:ext uri="{FF2B5EF4-FFF2-40B4-BE49-F238E27FC236}">
                <a16:creationId xmlns:a16="http://schemas.microsoft.com/office/drawing/2014/main" id="{DA10EA09-22C7-BEFC-982F-3C691B3B68FB}"/>
              </a:ext>
            </a:extLst>
          </p:cNvPr>
          <p:cNvSpPr/>
          <p:nvPr/>
        </p:nvSpPr>
        <p:spPr>
          <a:xfrm>
            <a:off x="3536048" y="12328589"/>
            <a:ext cx="4206239" cy="2667059"/>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Enter Number of Simulations Enter Number of Jobs</a:t>
            </a:r>
          </a:p>
        </p:txBody>
      </p:sp>
      <p:sp>
        <p:nvSpPr>
          <p:cNvPr id="11" name="Rectangle: Rounded Corners 10">
            <a:extLst>
              <a:ext uri="{FF2B5EF4-FFF2-40B4-BE49-F238E27FC236}">
                <a16:creationId xmlns:a16="http://schemas.microsoft.com/office/drawing/2014/main" id="{8794B80B-462C-7036-2C3D-D1D12A7C2A80}"/>
              </a:ext>
            </a:extLst>
          </p:cNvPr>
          <p:cNvSpPr/>
          <p:nvPr/>
        </p:nvSpPr>
        <p:spPr>
          <a:xfrm>
            <a:off x="8247635" y="12500152"/>
            <a:ext cx="3130616" cy="205128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Generate Burst Time Per Job</a:t>
            </a:r>
          </a:p>
        </p:txBody>
      </p:sp>
      <p:sp>
        <p:nvSpPr>
          <p:cNvPr id="14" name="Rectangle: Rounded Corners 13">
            <a:extLst>
              <a:ext uri="{FF2B5EF4-FFF2-40B4-BE49-F238E27FC236}">
                <a16:creationId xmlns:a16="http://schemas.microsoft.com/office/drawing/2014/main" id="{0A814353-3321-C38C-23F8-BC7347C6AF10}"/>
              </a:ext>
            </a:extLst>
          </p:cNvPr>
          <p:cNvSpPr/>
          <p:nvPr/>
        </p:nvSpPr>
        <p:spPr>
          <a:xfrm>
            <a:off x="12331916" y="10490373"/>
            <a:ext cx="3021220" cy="1684179"/>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Run FCFS Scheduling Algorithm</a:t>
            </a:r>
          </a:p>
        </p:txBody>
      </p:sp>
      <p:sp>
        <p:nvSpPr>
          <p:cNvPr id="17" name="Rectangle: Rounded Corners 16">
            <a:extLst>
              <a:ext uri="{FF2B5EF4-FFF2-40B4-BE49-F238E27FC236}">
                <a16:creationId xmlns:a16="http://schemas.microsoft.com/office/drawing/2014/main" id="{D7D05B88-0B6E-2679-33FE-D6B7BCB4E4BE}"/>
              </a:ext>
            </a:extLst>
          </p:cNvPr>
          <p:cNvSpPr/>
          <p:nvPr/>
        </p:nvSpPr>
        <p:spPr>
          <a:xfrm>
            <a:off x="12333336" y="14108726"/>
            <a:ext cx="3130616" cy="1684179"/>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Run SJF Scheduling Algorithm</a:t>
            </a:r>
          </a:p>
        </p:txBody>
      </p:sp>
      <p:sp>
        <p:nvSpPr>
          <p:cNvPr id="18" name="Rectangle: Rounded Corners 17">
            <a:extLst>
              <a:ext uri="{FF2B5EF4-FFF2-40B4-BE49-F238E27FC236}">
                <a16:creationId xmlns:a16="http://schemas.microsoft.com/office/drawing/2014/main" id="{D249F407-4C48-C7B2-708E-EF3E30388B10}"/>
              </a:ext>
            </a:extLst>
          </p:cNvPr>
          <p:cNvSpPr/>
          <p:nvPr/>
        </p:nvSpPr>
        <p:spPr>
          <a:xfrm>
            <a:off x="16017722" y="12231843"/>
            <a:ext cx="2971800" cy="177917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Display scheduling Sequence</a:t>
            </a:r>
          </a:p>
        </p:txBody>
      </p:sp>
      <p:sp>
        <p:nvSpPr>
          <p:cNvPr id="21" name="Rectangle: Rounded Corners 20">
            <a:extLst>
              <a:ext uri="{FF2B5EF4-FFF2-40B4-BE49-F238E27FC236}">
                <a16:creationId xmlns:a16="http://schemas.microsoft.com/office/drawing/2014/main" id="{C19AB4F7-3FEA-3D9E-2A93-49F503AC9621}"/>
              </a:ext>
            </a:extLst>
          </p:cNvPr>
          <p:cNvSpPr/>
          <p:nvPr/>
        </p:nvSpPr>
        <p:spPr>
          <a:xfrm>
            <a:off x="19609849" y="12172690"/>
            <a:ext cx="1853181" cy="177917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190" dirty="0">
                <a:latin typeface="Times New Roman" panose="02020603050405020304" pitchFamily="18" charset="0"/>
                <a:cs typeface="Times New Roman" panose="02020603050405020304" pitchFamily="18" charset="0"/>
              </a:rPr>
              <a:t>Exit</a:t>
            </a:r>
          </a:p>
        </p:txBody>
      </p:sp>
      <p:cxnSp>
        <p:nvCxnSpPr>
          <p:cNvPr id="31" name="Straight Arrow Connector 30">
            <a:extLst>
              <a:ext uri="{FF2B5EF4-FFF2-40B4-BE49-F238E27FC236}">
                <a16:creationId xmlns:a16="http://schemas.microsoft.com/office/drawing/2014/main" id="{C488BAB5-23D4-1D02-BC5F-D318585AD2F3}"/>
              </a:ext>
            </a:extLst>
          </p:cNvPr>
          <p:cNvCxnSpPr>
            <a:cxnSpLocks/>
          </p:cNvCxnSpPr>
          <p:nvPr/>
        </p:nvCxnSpPr>
        <p:spPr>
          <a:xfrm>
            <a:off x="3072024" y="13651527"/>
            <a:ext cx="464024"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2" name="Straight Arrow Connector 51">
            <a:extLst>
              <a:ext uri="{FF2B5EF4-FFF2-40B4-BE49-F238E27FC236}">
                <a16:creationId xmlns:a16="http://schemas.microsoft.com/office/drawing/2014/main" id="{BE581641-87B7-5388-E0DD-6C9B78B4F28A}"/>
              </a:ext>
            </a:extLst>
          </p:cNvPr>
          <p:cNvCxnSpPr>
            <a:cxnSpLocks/>
            <a:endCxn id="11" idx="1"/>
          </p:cNvCxnSpPr>
          <p:nvPr/>
        </p:nvCxnSpPr>
        <p:spPr>
          <a:xfrm>
            <a:off x="7742287" y="13504528"/>
            <a:ext cx="505348" cy="2126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8" name="Straight Arrow Connector 57">
            <a:extLst>
              <a:ext uri="{FF2B5EF4-FFF2-40B4-BE49-F238E27FC236}">
                <a16:creationId xmlns:a16="http://schemas.microsoft.com/office/drawing/2014/main" id="{CA87AFBB-7A19-700D-EB3A-866FFEE740DB}"/>
              </a:ext>
            </a:extLst>
          </p:cNvPr>
          <p:cNvCxnSpPr>
            <a:cxnSpLocks/>
          </p:cNvCxnSpPr>
          <p:nvPr/>
        </p:nvCxnSpPr>
        <p:spPr>
          <a:xfrm>
            <a:off x="11378251" y="13469596"/>
            <a:ext cx="1508855" cy="67855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0" name="Straight Arrow Connector 59">
            <a:extLst>
              <a:ext uri="{FF2B5EF4-FFF2-40B4-BE49-F238E27FC236}">
                <a16:creationId xmlns:a16="http://schemas.microsoft.com/office/drawing/2014/main" id="{402E4CB1-75E0-2677-169E-20ACE4821A5F}"/>
              </a:ext>
            </a:extLst>
          </p:cNvPr>
          <p:cNvCxnSpPr>
            <a:cxnSpLocks/>
            <a:endCxn id="11" idx="3"/>
          </p:cNvCxnSpPr>
          <p:nvPr/>
        </p:nvCxnSpPr>
        <p:spPr>
          <a:xfrm flipH="1">
            <a:off x="11378251" y="12129474"/>
            <a:ext cx="1224680" cy="139632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25" name="Straight Arrow Connector 1024">
            <a:extLst>
              <a:ext uri="{FF2B5EF4-FFF2-40B4-BE49-F238E27FC236}">
                <a16:creationId xmlns:a16="http://schemas.microsoft.com/office/drawing/2014/main" id="{6B902304-E64F-AFF9-A20C-27006C42D07F}"/>
              </a:ext>
            </a:extLst>
          </p:cNvPr>
          <p:cNvCxnSpPr>
            <a:cxnSpLocks/>
            <a:stCxn id="14" idx="3"/>
          </p:cNvCxnSpPr>
          <p:nvPr/>
        </p:nvCxnSpPr>
        <p:spPr>
          <a:xfrm>
            <a:off x="15353136" y="11332463"/>
            <a:ext cx="978730" cy="95235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28" name="Straight Arrow Connector 1027">
            <a:extLst>
              <a:ext uri="{FF2B5EF4-FFF2-40B4-BE49-F238E27FC236}">
                <a16:creationId xmlns:a16="http://schemas.microsoft.com/office/drawing/2014/main" id="{D01F83E5-96D3-8515-6024-7E8820050E88}"/>
              </a:ext>
            </a:extLst>
          </p:cNvPr>
          <p:cNvCxnSpPr>
            <a:cxnSpLocks/>
            <a:stCxn id="17" idx="3"/>
          </p:cNvCxnSpPr>
          <p:nvPr/>
        </p:nvCxnSpPr>
        <p:spPr>
          <a:xfrm flipV="1">
            <a:off x="15463952" y="13951864"/>
            <a:ext cx="1048486" cy="99895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34" name="Straight Arrow Connector 1033">
            <a:extLst>
              <a:ext uri="{FF2B5EF4-FFF2-40B4-BE49-F238E27FC236}">
                <a16:creationId xmlns:a16="http://schemas.microsoft.com/office/drawing/2014/main" id="{7BA14344-0935-EC93-4049-46ABBD23A155}"/>
              </a:ext>
            </a:extLst>
          </p:cNvPr>
          <p:cNvCxnSpPr>
            <a:cxnSpLocks/>
          </p:cNvCxnSpPr>
          <p:nvPr/>
        </p:nvCxnSpPr>
        <p:spPr>
          <a:xfrm>
            <a:off x="18989522" y="13121430"/>
            <a:ext cx="62032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357</TotalTime>
  <Words>935</Words>
  <Application>Microsoft Office PowerPoint</Application>
  <PresentationFormat>Custom</PresentationFormat>
  <Paragraphs>76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vamsi vallepu</cp:lastModifiedBy>
  <cp:revision>67</cp:revision>
  <dcterms:created xsi:type="dcterms:W3CDTF">2023-04-19T08:35:00Z</dcterms:created>
  <dcterms:modified xsi:type="dcterms:W3CDTF">2024-04-17T14:14:25Z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