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408" y="43"/>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17-04-2024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17-04-2024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17-04-2024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17-04-2024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17-04-2024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17-04-2024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17-04-2024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911" y="3894842"/>
            <a:ext cx="21571523"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26913" y="9950901"/>
            <a:ext cx="21599525"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6" name="Rectangle 5"/>
          <p:cNvSpPr/>
          <p:nvPr/>
        </p:nvSpPr>
        <p:spPr>
          <a:xfrm>
            <a:off x="-1" y="15728297"/>
            <a:ext cx="21558613"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42228" y="21968050"/>
            <a:ext cx="21684935"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8251" y="27346472"/>
            <a:ext cx="21670008"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66540" y="4035148"/>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30970" y="2522585"/>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67971" y="15747033"/>
            <a:ext cx="2416149"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82508" y="22048090"/>
            <a:ext cx="594804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40913" y="27346472"/>
            <a:ext cx="3677647"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48719" y="2554293"/>
            <a:ext cx="20898834" cy="1197251"/>
          </a:xfrm>
          <a:prstGeom prst="rect">
            <a:avLst/>
          </a:prstGeom>
          <a:noFill/>
        </p:spPr>
        <p:txBody>
          <a:bodyPr wrap="square" rtlCol="0">
            <a:spAutoFit/>
          </a:bodyPr>
          <a:lstStyle/>
          <a:p>
            <a:r>
              <a:rPr lang="en-IN" sz="3590" kern="1400" spc="-50" dirty="0">
                <a:effectLst/>
                <a:latin typeface="Times New Roman" panose="02020603050405020304" pitchFamily="18" charset="0"/>
                <a:ea typeface="Times New Roman" panose="02020603050405020304" pitchFamily="18" charset="0"/>
                <a:cs typeface="Times New Roman" panose="02020603050405020304" pitchFamily="18" charset="0"/>
              </a:rPr>
              <a:t>Short time task management system for increasing productivity by using priority scheduling Comparing with Earliest deadline First.</a:t>
            </a:r>
          </a:p>
        </p:txBody>
      </p:sp>
      <p:sp>
        <p:nvSpPr>
          <p:cNvPr id="20" name="Rectangle 19"/>
          <p:cNvSpPr/>
          <p:nvPr/>
        </p:nvSpPr>
        <p:spPr>
          <a:xfrm>
            <a:off x="40913" y="9962665"/>
            <a:ext cx="6116047"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197910" y="4760553"/>
            <a:ext cx="14718615" cy="5145639"/>
          </a:xfrm>
          <a:prstGeom prst="rect">
            <a:avLst/>
          </a:prstGeom>
          <a:noFill/>
        </p:spPr>
        <p:txBody>
          <a:bodyPr wrap="square" rtlCol="0">
            <a:spAutoFit/>
          </a:bodyPr>
          <a:lstStyle/>
          <a:p>
            <a:pPr marL="342900" indent="-342900">
              <a:buFont typeface="Wingdings" panose="05000000000000000000" pitchFamily="2" charset="2"/>
              <a:buChar char="Ø"/>
            </a:pPr>
            <a:r>
              <a:rPr lang="en-US" sz="2189" dirty="0">
                <a:latin typeface="Times New Roman" panose="02020603050405020304" pitchFamily="18" charset="0"/>
                <a:cs typeface="Times New Roman" panose="02020603050405020304" pitchFamily="18" charset="0"/>
              </a:rPr>
              <a:t>The current scheduling method in your task management system. This could be priority scheduling, round-robin scheduling, or any other method used to allocate resources.</a:t>
            </a:r>
          </a:p>
          <a:p>
            <a:pPr marL="342900" indent="-342900">
              <a:buFont typeface="Wingdings" panose="05000000000000000000" pitchFamily="2" charset="2"/>
              <a:buChar char="Ø"/>
            </a:pPr>
            <a:r>
              <a:rPr lang="en-US" sz="2189" dirty="0">
                <a:latin typeface="Times New Roman" panose="02020603050405020304" pitchFamily="18" charset="0"/>
                <a:cs typeface="Times New Roman" panose="02020603050405020304" pitchFamily="18" charset="0"/>
                <a:sym typeface="+mn-ea"/>
              </a:rPr>
              <a:t>Define EDF scheduling as a method that prioritizes tasks based on their deadlines, where tasks with the earliest deadlines are given precedence.Highlight the benefits of EDF scheduling, such as ensuring timely completion of tasks and minimizing deadline violations.</a:t>
            </a:r>
          </a:p>
          <a:p>
            <a:pPr marL="342900" indent="-342900">
              <a:buFont typeface="Wingdings" panose="05000000000000000000" pitchFamily="2" charset="2"/>
              <a:buChar char="Ø"/>
            </a:pPr>
            <a:r>
              <a:rPr lang="en-US" sz="2189" dirty="0">
                <a:latin typeface="Times New Roman" panose="02020603050405020304" pitchFamily="18" charset="0"/>
                <a:cs typeface="Times New Roman" panose="02020603050405020304" pitchFamily="18" charset="0"/>
                <a:sym typeface="+mn-ea"/>
              </a:rPr>
              <a:t>Provide a clear rationale for transitioning to EDF scheduling. Emphasize how EDF can improve task management by focusing on meeting deadlines, which is crucial for maintaining productivity and meeting client or stakeholder expectations.</a:t>
            </a:r>
          </a:p>
          <a:p>
            <a:pPr marL="342900" indent="-342900">
              <a:buFont typeface="Wingdings" panose="05000000000000000000" pitchFamily="2" charset="2"/>
              <a:buChar char="Ø"/>
            </a:pPr>
            <a:r>
              <a:rPr lang="en-US" sz="2189" dirty="0">
                <a:latin typeface="Times New Roman" panose="02020603050405020304" pitchFamily="18" charset="0"/>
                <a:cs typeface="Times New Roman" panose="02020603050405020304" pitchFamily="18" charset="0"/>
                <a:sym typeface="+mn-ea"/>
              </a:rPr>
              <a:t>Explain the key features and principles of EDF scheduling, such as dynamically adjusting task priorities based on their deadlines and the concept of preemptive scheduling.</a:t>
            </a:r>
          </a:p>
          <a:p>
            <a:pPr marL="342900" indent="-342900">
              <a:buFont typeface="Wingdings" panose="05000000000000000000" pitchFamily="2" charset="2"/>
              <a:buChar char="Ø"/>
            </a:pPr>
            <a:r>
              <a:rPr lang="en-US" sz="2189" dirty="0">
                <a:latin typeface="Times New Roman" panose="02020603050405020304" pitchFamily="18" charset="0"/>
                <a:cs typeface="Times New Roman" panose="02020603050405020304" pitchFamily="18" charset="0"/>
                <a:sym typeface="+mn-ea"/>
              </a:rPr>
              <a:t>Communicate the upcoming changes to all stakeholders involved, including developers, system administrators, and end-users. Clearly explain the benefits of EDF scheduling and how it will impact their workflow.</a:t>
            </a:r>
          </a:p>
          <a:p>
            <a:pPr marL="342900" indent="-342900">
              <a:buFont typeface="Wingdings" panose="05000000000000000000" pitchFamily="2" charset="2"/>
              <a:buChar char="Ø"/>
            </a:pPr>
            <a:r>
              <a:rPr lang="en-US" sz="2189" dirty="0">
                <a:latin typeface="Times New Roman" panose="02020603050405020304" pitchFamily="18" charset="0"/>
                <a:cs typeface="Times New Roman" panose="02020603050405020304" pitchFamily="18" charset="0"/>
                <a:sym typeface="+mn-ea"/>
              </a:rPr>
              <a:t>Provide training or documentation on how EDF scheduling works and how stakeholders can adapt to the changes.</a:t>
            </a:r>
          </a:p>
          <a:p>
            <a:pPr marL="342900" indent="-342900">
              <a:buFont typeface="Wingdings" panose="05000000000000000000" pitchFamily="2" charset="2"/>
              <a:buChar char="Ø"/>
            </a:pPr>
            <a:r>
              <a:rPr lang="en-US" sz="2189" dirty="0">
                <a:latin typeface="Times New Roman" panose="02020603050405020304" pitchFamily="18" charset="0"/>
                <a:cs typeface="Times New Roman" panose="02020603050405020304" pitchFamily="18" charset="0"/>
                <a:sym typeface="+mn-ea"/>
              </a:rPr>
              <a:t>Conduct thorough testing of the EDF scheduling implementation to ensure its functionality, reliability, and performance.Gather feedback from testers and stakeholders and make any necessary adjustments before deploying EDF scheduling in a production environment.</a:t>
            </a:r>
          </a:p>
        </p:txBody>
      </p:sp>
      <p:sp>
        <p:nvSpPr>
          <p:cNvPr id="36" name="TextBox 35"/>
          <p:cNvSpPr txBox="1"/>
          <p:nvPr/>
        </p:nvSpPr>
        <p:spPr>
          <a:xfrm>
            <a:off x="117725" y="10777343"/>
            <a:ext cx="12078470" cy="396857"/>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17725" y="22625326"/>
            <a:ext cx="20489198" cy="4602414"/>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90" dirty="0">
                <a:latin typeface="Times New Roman" panose="02020603050405020304" pitchFamily="18" charset="0"/>
                <a:cs typeface="Times New Roman" panose="02020603050405020304" pitchFamily="18" charset="0"/>
              </a:rPr>
              <a:t>Based on  T-test Statistical analysis, the significance value of  p=0.001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r>
              <a:rPr lang="en-US" sz="2190" spc="10" dirty="0">
                <a:latin typeface="Times New Roman"/>
                <a:cs typeface="Times New Roman"/>
              </a:rPr>
              <a:t>Overall </a:t>
            </a:r>
            <a:r>
              <a:rPr lang="en-US" sz="2190" spc="5" dirty="0">
                <a:latin typeface="Times New Roman"/>
                <a:cs typeface="Times New Roman"/>
              </a:rPr>
              <a:t>, the accuracy of the priority scheduling </a:t>
            </a:r>
            <a:r>
              <a:rPr lang="en-US" sz="2190" spc="10" dirty="0">
                <a:latin typeface="Times New Roman"/>
                <a:cs typeface="Times New Roman"/>
              </a:rPr>
              <a:t>(PS) </a:t>
            </a:r>
            <a:r>
              <a:rPr lang="en-US" sz="2190" spc="5" dirty="0">
                <a:latin typeface="Times New Roman"/>
                <a:cs typeface="Times New Roman"/>
              </a:rPr>
              <a:t>is 50.00 </a:t>
            </a:r>
            <a:r>
              <a:rPr lang="en-US" sz="2190" spc="20" dirty="0">
                <a:latin typeface="Times New Roman"/>
                <a:cs typeface="Times New Roman"/>
              </a:rPr>
              <a:t>% </a:t>
            </a:r>
            <a:r>
              <a:rPr lang="en-US" sz="2190" spc="10" dirty="0">
                <a:latin typeface="Times New Roman"/>
                <a:cs typeface="Times New Roman"/>
              </a:rPr>
              <a:t>and </a:t>
            </a:r>
            <a:r>
              <a:rPr lang="en-US" sz="2190" spc="5" dirty="0">
                <a:latin typeface="Times New Roman"/>
                <a:cs typeface="Times New Roman"/>
              </a:rPr>
              <a:t>it is better than the other </a:t>
            </a:r>
            <a:r>
              <a:rPr lang="en-US" sz="2190" spc="10" dirty="0">
                <a:latin typeface="Times New Roman"/>
                <a:cs typeface="Times New Roman"/>
              </a:rPr>
              <a:t>algorithm. </a:t>
            </a:r>
          </a:p>
          <a:p>
            <a:pPr algn="just"/>
            <a:r>
              <a:rPr lang="en-US" sz="2190" dirty="0">
                <a:latin typeface="Times New Roman"/>
                <a:cs typeface="Times New Roman"/>
              </a:rPr>
              <a:t>    Earliest deadline first  (EDF) -      35.12%</a:t>
            </a:r>
          </a:p>
          <a:p>
            <a:pPr marR="2315845">
              <a:lnSpc>
                <a:spcPct val="104600"/>
              </a:lnSpc>
              <a:tabLst>
                <a:tab pos="118110" algn="l"/>
                <a:tab pos="2058035" algn="l"/>
                <a:tab pos="2214880" algn="l"/>
              </a:tabLst>
            </a:pPr>
            <a:r>
              <a:rPr lang="en-US" sz="2190" spc="10" dirty="0">
                <a:latin typeface="Times New Roman"/>
                <a:cs typeface="Times New Roman"/>
              </a:rPr>
              <a:t>    First</a:t>
            </a:r>
            <a:r>
              <a:rPr lang="en-US" sz="2190" spc="-15" dirty="0">
                <a:latin typeface="Times New Roman"/>
                <a:cs typeface="Times New Roman"/>
              </a:rPr>
              <a:t> </a:t>
            </a:r>
            <a:r>
              <a:rPr lang="en-US" sz="2190" spc="15" dirty="0">
                <a:latin typeface="Times New Roman"/>
                <a:cs typeface="Times New Roman"/>
              </a:rPr>
              <a:t>come</a:t>
            </a:r>
            <a:r>
              <a:rPr lang="en-US" sz="2190" spc="5" dirty="0">
                <a:latin typeface="Times New Roman"/>
                <a:cs typeface="Times New Roman"/>
              </a:rPr>
              <a:t> first</a:t>
            </a:r>
            <a:r>
              <a:rPr lang="en-US" sz="2190" spc="-15" dirty="0">
                <a:latin typeface="Times New Roman"/>
                <a:cs typeface="Times New Roman"/>
              </a:rPr>
              <a:t> </a:t>
            </a:r>
            <a:r>
              <a:rPr lang="en-US" sz="2190" spc="5" dirty="0">
                <a:latin typeface="Times New Roman"/>
                <a:cs typeface="Times New Roman"/>
              </a:rPr>
              <a:t>sreve</a:t>
            </a:r>
            <a:r>
              <a:rPr lang="en-US" sz="2190" spc="15" dirty="0">
                <a:latin typeface="Times New Roman"/>
                <a:cs typeface="Times New Roman"/>
              </a:rPr>
              <a:t> </a:t>
            </a:r>
            <a:r>
              <a:rPr lang="en-US" sz="2190" spc="10" dirty="0">
                <a:latin typeface="Times New Roman"/>
                <a:cs typeface="Times New Roman"/>
              </a:rPr>
              <a:t>(FCFS)	</a:t>
            </a:r>
            <a:r>
              <a:rPr lang="en-US" sz="2190" spc="5" dirty="0">
                <a:latin typeface="Times New Roman"/>
                <a:cs typeface="Times New Roman"/>
              </a:rPr>
              <a:t>-	</a:t>
            </a:r>
            <a:r>
              <a:rPr lang="en-US" sz="2190" spc="10" dirty="0">
                <a:latin typeface="Times New Roman"/>
                <a:cs typeface="Times New Roman"/>
              </a:rPr>
              <a:t>45.00%</a:t>
            </a:r>
          </a:p>
          <a:p>
            <a:pPr marR="2315845">
              <a:lnSpc>
                <a:spcPct val="104600"/>
              </a:lnSpc>
              <a:tabLst>
                <a:tab pos="118110" algn="l"/>
                <a:tab pos="2058035" algn="l"/>
                <a:tab pos="2214880" algn="l"/>
              </a:tabLst>
            </a:pPr>
            <a:r>
              <a:rPr lang="en-US" sz="2190" spc="10" dirty="0">
                <a:latin typeface="Times New Roman"/>
                <a:cs typeface="Times New Roman"/>
              </a:rPr>
              <a:t>    </a:t>
            </a:r>
            <a:r>
              <a:rPr lang="en-US" sz="2190" dirty="0">
                <a:latin typeface="Times New Roman"/>
                <a:cs typeface="Times New Roman"/>
              </a:rPr>
              <a:t>Priority Scheduling     (PS)     -     50.00% </a:t>
            </a:r>
          </a:p>
          <a:p>
            <a:pPr marR="2315845">
              <a:lnSpc>
                <a:spcPct val="104600"/>
              </a:lnSpc>
              <a:tabLst>
                <a:tab pos="118110" algn="l"/>
                <a:tab pos="2058035" algn="l"/>
                <a:tab pos="2214880" algn="l"/>
              </a:tabLst>
            </a:pPr>
            <a:r>
              <a:rPr lang="en-US" sz="2190" dirty="0">
                <a:latin typeface="Times New Roman"/>
                <a:cs typeface="Times New Roman"/>
              </a:rPr>
              <a:t>    deadline scheduling    (DS)    -      33.33%</a:t>
            </a:r>
          </a:p>
          <a:p>
            <a:pPr marR="2315845">
              <a:lnSpc>
                <a:spcPct val="104600"/>
              </a:lnSpc>
              <a:tabLst>
                <a:tab pos="118110" algn="l"/>
                <a:tab pos="2058035" algn="l"/>
                <a:tab pos="2214880" algn="l"/>
              </a:tabLst>
            </a:pPr>
            <a:r>
              <a:rPr lang="en-US" sz="2190" dirty="0">
                <a:latin typeface="Times New Roman"/>
                <a:cs typeface="Times New Roman"/>
              </a:rPr>
              <a:t>    Round Robin scheduling(RRS) -   30.22%</a:t>
            </a:r>
          </a:p>
          <a:p>
            <a:pPr marL="342900" marR="2315845" indent="-342900">
              <a:lnSpc>
                <a:spcPct val="104600"/>
              </a:lnSpc>
              <a:buFont typeface="Wingdings" panose="05000000000000000000" pitchFamily="2" charset="2"/>
              <a:buChar char="Ø"/>
              <a:tabLst>
                <a:tab pos="118110" algn="l"/>
                <a:tab pos="2058035" algn="l"/>
                <a:tab pos="2214880" algn="l"/>
              </a:tabLst>
            </a:pPr>
            <a:r>
              <a:rPr lang="en-US" sz="2190" dirty="0">
                <a:latin typeface="Times New Roman"/>
                <a:cs typeface="Times New Roman"/>
              </a:rPr>
              <a:t>The key features and principles of EDF scheduling, such as dynamically adjusting task priorities and preemptive scheduling, offer a robust framework for effective task prioritization in diverse contexts.</a:t>
            </a:r>
          </a:p>
          <a:p>
            <a:pPr marL="342900" marR="2315845" indent="-342900">
              <a:lnSpc>
                <a:spcPct val="104600"/>
              </a:lnSpc>
              <a:buFont typeface="Wingdings" panose="05000000000000000000" pitchFamily="2" charset="2"/>
              <a:buChar char="Ø"/>
              <a:tabLst>
                <a:tab pos="118110" algn="l"/>
                <a:tab pos="2058035" algn="l"/>
                <a:tab pos="2214880" algn="l"/>
              </a:tabLst>
            </a:pPr>
            <a:r>
              <a:rPr lang="en-US" sz="2190" dirty="0">
                <a:latin typeface="Times New Roman"/>
                <a:cs typeface="Times New Roman"/>
              </a:rPr>
              <a:t>The transition to EDF scheduling is deployed and evaluated, ongoing monitoring and optimization efforts will be vital to fine-tune performance and address any unforeseen challenges.</a:t>
            </a:r>
          </a:p>
          <a:p>
            <a:pPr marL="342900" marR="2315845" indent="-342900">
              <a:lnSpc>
                <a:spcPct val="104600"/>
              </a:lnSpc>
              <a:buFont typeface="Wingdings" panose="05000000000000000000" pitchFamily="2" charset="2"/>
              <a:buChar char="Ø"/>
              <a:tabLst>
                <a:tab pos="118110" algn="l"/>
                <a:tab pos="2058035" algn="l"/>
                <a:tab pos="2214880" algn="l"/>
              </a:tabLst>
            </a:pPr>
            <a:r>
              <a:rPr lang="en-US" sz="2190" dirty="0">
                <a:latin typeface="Times New Roman"/>
                <a:cs typeface="Times New Roman"/>
              </a:rPr>
              <a:t>Stakeholder buy-in and understanding of the rationale behind the transition have played a crucial role in facilitating acceptance and adoption.</a:t>
            </a:r>
          </a:p>
        </p:txBody>
      </p:sp>
      <p:sp>
        <p:nvSpPr>
          <p:cNvPr id="39" name="TextBox 38"/>
          <p:cNvSpPr txBox="1"/>
          <p:nvPr/>
        </p:nvSpPr>
        <p:spPr>
          <a:xfrm>
            <a:off x="82508" y="28053254"/>
            <a:ext cx="21139308" cy="4808752"/>
          </a:xfrm>
          <a:prstGeom prst="rect">
            <a:avLst/>
          </a:prstGeom>
          <a:noFill/>
        </p:spPr>
        <p:txBody>
          <a:bodyPr wrap="square" rtlCol="0">
            <a:spAutoFit/>
          </a:bodyPr>
          <a:lstStyle/>
          <a:p>
            <a:pPr marL="341254" indent="-341254" algn="just">
              <a:buFont typeface="Wingdings" panose="05000000000000000000" pitchFamily="2" charset="2"/>
              <a:buChar char="Ø"/>
            </a:pPr>
            <a:r>
              <a:rPr lang="en-US" sz="2189" dirty="0">
                <a:latin typeface="Times New Roman" panose="02020603050405020304" pitchFamily="18" charset="0"/>
                <a:cs typeface="Times New Roman" panose="02020603050405020304" pitchFamily="18" charset="0"/>
              </a:rPr>
              <a:t>Nass, S. J., Levit, L. A., Gostin, L. O., et al. (2009). The value, importance, and oversight of health research.Thiese MS. Observational and interventional study design types; an overview. Biochemia medica: Biochemia medica. 2014;24(2):199–210.</a:t>
            </a:r>
          </a:p>
          <a:p>
            <a:pPr marL="341254" indent="-341254" algn="just">
              <a:buFont typeface="Wingdings" panose="05000000000000000000" pitchFamily="2" charset="2"/>
              <a:buChar char="Ø"/>
            </a:pPr>
            <a:r>
              <a:rPr lang="en-IN" sz="2189" dirty="0">
                <a:latin typeface="Times New Roman" panose="02020603050405020304" pitchFamily="18" charset="0"/>
                <a:cs typeface="Times New Roman" panose="02020603050405020304" pitchFamily="18" charset="0"/>
              </a:rPr>
              <a:t>Ioannidis JP, Greenland S, Hlatky MA, Khoury MJ, Macleod MR, Moher D, Schulz KF, Tibshirani R. Increasing value and reducing waste in research design, conduct, and analysis. Lancet. 2014;383(9912):166–75.</a:t>
            </a:r>
            <a:endParaRPr lang="en-US" sz="2189"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89" dirty="0">
                <a:latin typeface="Times New Roman" panose="02020603050405020304" pitchFamily="18" charset="0"/>
                <a:cs typeface="Times New Roman" panose="02020603050405020304" pitchFamily="18" charset="0"/>
              </a:rPr>
              <a:t>Brandizi M, Melnichuk O, Bild R, Kohlmayer F, Rodriguez-Castro B, Spengler H, Kuhn KA, Kuchinke W, Ohmann C, Mustonen T, et al. Orchestrating differential data access for translational research: a pilot implementation. BMC Med Inform Decis Mak. 2017;17(1):30.</a:t>
            </a:r>
            <a:endParaRPr lang="en-US" sz="2189"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89" dirty="0">
                <a:latin typeface="Times New Roman" panose="02020603050405020304" pitchFamily="18" charset="0"/>
                <a:cs typeface="Times New Roman" panose="02020603050405020304" pitchFamily="18" charset="0"/>
              </a:rPr>
              <a:t>Coorevits P, Sundgren M, Klein GO, Bahr A, Claerhout B, Daniel C, Dugas M, Dupont D, Schmidt A, Singleton P, et al. Electronic health records: new opportunities for clinical research. J Intern Med. 2013;274(6):547–60.</a:t>
            </a:r>
            <a:endParaRPr lang="en-US" sz="2189"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89" dirty="0">
                <a:latin typeface="Times New Roman" panose="02020603050405020304" pitchFamily="18" charset="0"/>
                <a:cs typeface="Times New Roman" panose="02020603050405020304" pitchFamily="18" charset="0"/>
              </a:rPr>
              <a:t>Holl S, Zimmermann O, Palmblad M, Mohammed Y, Hofmann M. A new optimization phase for scientific workflow management systems. Futur Gener Comput Syst. 2014;36:352–62.</a:t>
            </a:r>
          </a:p>
          <a:p>
            <a:pPr marL="341254" indent="-341254" algn="just">
              <a:buFont typeface="Wingdings" panose="05000000000000000000" pitchFamily="2" charset="2"/>
              <a:buChar char="Ø"/>
            </a:pPr>
            <a:r>
              <a:rPr lang="en-IN" sz="2189" dirty="0">
                <a:latin typeface="Times New Roman" panose="02020603050405020304" pitchFamily="18" charset="0"/>
                <a:cs typeface="Times New Roman" panose="02020603050405020304" pitchFamily="18" charset="0"/>
              </a:rPr>
              <a:t>Liew CS, Atkinson MP, Galea M, Ang TF, Martin P, Hemert JIV. Scientific workflows: moving across paradigms. ACM Computing Surveys (CSUR). 2017;49(4):66.</a:t>
            </a:r>
          </a:p>
          <a:p>
            <a:pPr marL="341254" indent="-341254" algn="just">
              <a:buFont typeface="Wingdings" panose="05000000000000000000" pitchFamily="2" charset="2"/>
              <a:buChar char="Ø"/>
            </a:pPr>
            <a:r>
              <a:rPr lang="en-IN" sz="2189" dirty="0">
                <a:latin typeface="Times New Roman" panose="02020603050405020304" pitchFamily="18" charset="0"/>
                <a:cs typeface="Times New Roman" panose="02020603050405020304" pitchFamily="18" charset="0"/>
              </a:rPr>
              <a:t>Wolstencroft K, Haines R, Fellows D, Williams A, Withers D, Owen S, Soiland-Reyes S, Dunlop I, Nenadic A, Fisher P, et al. The taverna workflow suite: designing and executing workflows of web services on the desktop, web or in the cloud. Nucleic Acids Res. 2013;41(W1):W557–61.</a:t>
            </a:r>
          </a:p>
          <a:p>
            <a:pPr marL="341254" indent="-341254" algn="just">
              <a:buFont typeface="Wingdings" panose="05000000000000000000" pitchFamily="2" charset="2"/>
              <a:buChar char="Ø"/>
            </a:pPr>
            <a:r>
              <a:rPr lang="en-IN" sz="2189" dirty="0">
                <a:latin typeface="Times New Roman" panose="02020603050405020304" pitchFamily="18" charset="0"/>
                <a:cs typeface="Times New Roman" panose="02020603050405020304" pitchFamily="18" charset="0"/>
              </a:rPr>
              <a:t>Jain A, Ong SP, Chen W, Medasani B, Qu X, Kocher M, Brafman M, Petretto G, Rignanese G-M, Hautier G, et al. Fireworks: A dynamic workflow system designed for high-throughput applications.</a:t>
            </a:r>
          </a:p>
        </p:txBody>
      </p:sp>
      <p:sp>
        <p:nvSpPr>
          <p:cNvPr id="29" name="Text Box 28"/>
          <p:cNvSpPr txBox="1"/>
          <p:nvPr/>
        </p:nvSpPr>
        <p:spPr>
          <a:xfrm>
            <a:off x="82508" y="20696735"/>
            <a:ext cx="21040630" cy="1440266"/>
          </a:xfrm>
          <a:prstGeom prst="rect">
            <a:avLst/>
          </a:prstGeom>
          <a:noFill/>
        </p:spPr>
        <p:txBody>
          <a:bodyPr wrap="square" rtlCol="0">
            <a:spAutoFit/>
          </a:bodyPr>
          <a:lstStyle/>
          <a:p>
            <a:pPr algn="just"/>
            <a:r>
              <a:rPr lang="en-US" sz="1990" b="1" dirty="0">
                <a:latin typeface="Times New Roman" panose="02020603050405020304" pitchFamily="18" charset="0"/>
                <a:cs typeface="Times New Roman" panose="02020603050405020304" pitchFamily="18" charset="0"/>
              </a:rPr>
              <a:t> </a:t>
            </a:r>
            <a:r>
              <a:rPr lang="en-US" sz="2190" spc="10" dirty="0">
                <a:latin typeface="Times New Roman"/>
                <a:cs typeface="Times New Roman"/>
              </a:rPr>
              <a:t>In</a:t>
            </a:r>
            <a:r>
              <a:rPr lang="en-US" sz="2190" spc="50" dirty="0">
                <a:latin typeface="Times New Roman"/>
                <a:cs typeface="Times New Roman"/>
              </a:rPr>
              <a:t> </a:t>
            </a:r>
            <a:r>
              <a:rPr lang="en-US" sz="2190" spc="5" dirty="0">
                <a:latin typeface="Times New Roman"/>
                <a:cs typeface="Times New Roman"/>
              </a:rPr>
              <a:t>the</a:t>
            </a:r>
            <a:r>
              <a:rPr lang="en-US" sz="2190" spc="50" dirty="0">
                <a:latin typeface="Times New Roman"/>
                <a:cs typeface="Times New Roman"/>
              </a:rPr>
              <a:t> </a:t>
            </a:r>
            <a:r>
              <a:rPr lang="en-US" sz="2190" spc="5" dirty="0">
                <a:latin typeface="Times New Roman"/>
                <a:cs typeface="Times New Roman"/>
              </a:rPr>
              <a:t>present</a:t>
            </a:r>
            <a:r>
              <a:rPr lang="en-US" sz="2190" spc="65" dirty="0">
                <a:latin typeface="Times New Roman"/>
                <a:cs typeface="Times New Roman"/>
              </a:rPr>
              <a:t> </a:t>
            </a:r>
            <a:r>
              <a:rPr lang="en-US" sz="2190" dirty="0">
                <a:latin typeface="Times New Roman"/>
                <a:cs typeface="Times New Roman"/>
              </a:rPr>
              <a:t>work,</a:t>
            </a:r>
            <a:r>
              <a:rPr lang="en-US" sz="2190" spc="55" dirty="0">
                <a:latin typeface="Times New Roman"/>
                <a:cs typeface="Times New Roman"/>
              </a:rPr>
              <a:t> </a:t>
            </a:r>
            <a:r>
              <a:rPr lang="en-US" sz="2190" spc="5" dirty="0">
                <a:latin typeface="Times New Roman"/>
                <a:cs typeface="Times New Roman"/>
              </a:rPr>
              <a:t>priority</a:t>
            </a:r>
            <a:r>
              <a:rPr lang="en-US" sz="2190" spc="40" dirty="0">
                <a:latin typeface="Times New Roman"/>
                <a:cs typeface="Times New Roman"/>
              </a:rPr>
              <a:t> </a:t>
            </a:r>
            <a:r>
              <a:rPr lang="en-US" sz="2190" spc="5" dirty="0">
                <a:latin typeface="Times New Roman"/>
                <a:cs typeface="Times New Roman"/>
              </a:rPr>
              <a:t>scheduling</a:t>
            </a:r>
            <a:r>
              <a:rPr lang="en-US" sz="2190" spc="60" dirty="0">
                <a:latin typeface="Times New Roman"/>
                <a:cs typeface="Times New Roman"/>
              </a:rPr>
              <a:t> </a:t>
            </a:r>
            <a:r>
              <a:rPr lang="en-US" sz="2190" spc="10" dirty="0">
                <a:latin typeface="Times New Roman"/>
                <a:cs typeface="Times New Roman"/>
              </a:rPr>
              <a:t>(PS)</a:t>
            </a:r>
            <a:r>
              <a:rPr lang="en-US" sz="2190" spc="60" dirty="0">
                <a:latin typeface="Times New Roman"/>
                <a:cs typeface="Times New Roman"/>
              </a:rPr>
              <a:t> </a:t>
            </a:r>
            <a:r>
              <a:rPr lang="en-US" sz="2190" spc="-5" dirty="0">
                <a:latin typeface="Times New Roman"/>
                <a:cs typeface="Times New Roman"/>
              </a:rPr>
              <a:t>is</a:t>
            </a:r>
            <a:r>
              <a:rPr lang="en-US" sz="2190" spc="60" dirty="0">
                <a:latin typeface="Times New Roman"/>
                <a:cs typeface="Times New Roman"/>
              </a:rPr>
              <a:t> </a:t>
            </a:r>
            <a:r>
              <a:rPr lang="en-US" sz="2190" spc="5" dirty="0">
                <a:latin typeface="Times New Roman"/>
                <a:cs typeface="Times New Roman"/>
              </a:rPr>
              <a:t>compared</a:t>
            </a:r>
            <a:r>
              <a:rPr lang="en-US" sz="2190" spc="50" dirty="0">
                <a:latin typeface="Times New Roman"/>
                <a:cs typeface="Times New Roman"/>
              </a:rPr>
              <a:t> </a:t>
            </a:r>
            <a:r>
              <a:rPr lang="en-US" sz="2190" spc="5" dirty="0">
                <a:latin typeface="Times New Roman"/>
                <a:cs typeface="Times New Roman"/>
              </a:rPr>
              <a:t>with</a:t>
            </a:r>
            <a:r>
              <a:rPr lang="en-US" sz="2190" spc="50" dirty="0">
                <a:latin typeface="Times New Roman"/>
                <a:cs typeface="Times New Roman"/>
              </a:rPr>
              <a:t> </a:t>
            </a:r>
            <a:r>
              <a:rPr lang="en-US" sz="2190" spc="5" dirty="0">
                <a:latin typeface="Times New Roman"/>
                <a:cs typeface="Times New Roman"/>
              </a:rPr>
              <a:t>Earliest deadline first</a:t>
            </a:r>
            <a:r>
              <a:rPr lang="en-US" sz="2190" spc="55" dirty="0">
                <a:latin typeface="Times New Roman"/>
                <a:cs typeface="Times New Roman"/>
              </a:rPr>
              <a:t> </a:t>
            </a:r>
            <a:r>
              <a:rPr lang="en-US" sz="2190" spc="5" dirty="0">
                <a:latin typeface="Times New Roman"/>
                <a:cs typeface="Times New Roman"/>
              </a:rPr>
              <a:t>(EDF)</a:t>
            </a:r>
            <a:r>
              <a:rPr lang="en-US" sz="2190" spc="50" dirty="0">
                <a:latin typeface="Times New Roman"/>
                <a:cs typeface="Times New Roman"/>
              </a:rPr>
              <a:t> </a:t>
            </a:r>
            <a:r>
              <a:rPr lang="en-US" sz="2190" spc="10" dirty="0">
                <a:latin typeface="Times New Roman"/>
                <a:cs typeface="Times New Roman"/>
              </a:rPr>
              <a:t>and</a:t>
            </a:r>
            <a:r>
              <a:rPr lang="en-US" sz="2190" spc="50" dirty="0">
                <a:latin typeface="Times New Roman"/>
                <a:cs typeface="Times New Roman"/>
              </a:rPr>
              <a:t> </a:t>
            </a:r>
            <a:r>
              <a:rPr lang="en-US" sz="2190" spc="5" dirty="0">
                <a:latin typeface="Times New Roman"/>
                <a:cs typeface="Times New Roman"/>
              </a:rPr>
              <a:t>it</a:t>
            </a:r>
            <a:r>
              <a:rPr lang="en-US" sz="2190" spc="55" dirty="0">
                <a:latin typeface="Times New Roman"/>
                <a:cs typeface="Times New Roman"/>
              </a:rPr>
              <a:t> </a:t>
            </a:r>
            <a:r>
              <a:rPr lang="en-US" sz="2190" spc="5" dirty="0">
                <a:latin typeface="Times New Roman"/>
                <a:cs typeface="Times New Roman"/>
              </a:rPr>
              <a:t>depicts</a:t>
            </a:r>
            <a:r>
              <a:rPr lang="en-US" sz="2190" spc="55" dirty="0">
                <a:latin typeface="Times New Roman"/>
                <a:cs typeface="Times New Roman"/>
              </a:rPr>
              <a:t> </a:t>
            </a:r>
            <a:r>
              <a:rPr lang="en-US" sz="2190" spc="5" dirty="0">
                <a:latin typeface="Times New Roman"/>
                <a:cs typeface="Times New Roman"/>
              </a:rPr>
              <a:t>that</a:t>
            </a:r>
            <a:r>
              <a:rPr lang="en-US" sz="2190" spc="55" dirty="0">
                <a:latin typeface="Times New Roman"/>
                <a:cs typeface="Times New Roman"/>
              </a:rPr>
              <a:t> </a:t>
            </a:r>
            <a:r>
              <a:rPr lang="en-US" sz="2190" dirty="0">
                <a:latin typeface="Times New Roman"/>
                <a:cs typeface="Times New Roman"/>
              </a:rPr>
              <a:t>the</a:t>
            </a:r>
            <a:r>
              <a:rPr lang="en-US" sz="2190" spc="50" dirty="0">
                <a:latin typeface="Times New Roman"/>
                <a:cs typeface="Times New Roman"/>
              </a:rPr>
              <a:t> </a:t>
            </a:r>
            <a:r>
              <a:rPr lang="en-US" sz="2190" spc="5" dirty="0">
                <a:latin typeface="Times New Roman"/>
                <a:cs typeface="Times New Roman"/>
              </a:rPr>
              <a:t>proposed</a:t>
            </a:r>
            <a:r>
              <a:rPr lang="en-US" sz="2190" spc="50" dirty="0">
                <a:latin typeface="Times New Roman"/>
                <a:cs typeface="Times New Roman"/>
              </a:rPr>
              <a:t> </a:t>
            </a:r>
            <a:r>
              <a:rPr lang="en-US" sz="2190" spc="5" dirty="0">
                <a:latin typeface="Times New Roman"/>
                <a:cs typeface="Times New Roman"/>
              </a:rPr>
              <a:t>algorithm</a:t>
            </a:r>
            <a:r>
              <a:rPr lang="en-US" sz="2190" spc="70" dirty="0">
                <a:latin typeface="Times New Roman"/>
                <a:cs typeface="Times New Roman"/>
              </a:rPr>
              <a:t> </a:t>
            </a:r>
            <a:r>
              <a:rPr lang="en-US" sz="2190" spc="10" dirty="0">
                <a:latin typeface="Times New Roman"/>
                <a:cs typeface="Times New Roman"/>
              </a:rPr>
              <a:t>gives</a:t>
            </a:r>
            <a:r>
              <a:rPr lang="en-US" sz="2190" spc="35" dirty="0">
                <a:latin typeface="Times New Roman"/>
                <a:cs typeface="Times New Roman"/>
              </a:rPr>
              <a:t> </a:t>
            </a:r>
            <a:r>
              <a:rPr lang="en-US" sz="2190" spc="10" dirty="0">
                <a:latin typeface="Times New Roman"/>
                <a:cs typeface="Times New Roman"/>
              </a:rPr>
              <a:t>more</a:t>
            </a:r>
            <a:r>
              <a:rPr lang="en-US" sz="2190" spc="50" dirty="0">
                <a:latin typeface="Times New Roman"/>
                <a:cs typeface="Times New Roman"/>
              </a:rPr>
              <a:t> </a:t>
            </a:r>
            <a:r>
              <a:rPr lang="en-US" sz="2190" spc="5" dirty="0">
                <a:latin typeface="Times New Roman"/>
                <a:cs typeface="Times New Roman"/>
              </a:rPr>
              <a:t>accuracy</a:t>
            </a:r>
            <a:r>
              <a:rPr lang="en-US" sz="2190" spc="50" dirty="0">
                <a:latin typeface="Times New Roman"/>
                <a:cs typeface="Times New Roman"/>
              </a:rPr>
              <a:t> </a:t>
            </a:r>
            <a:r>
              <a:rPr lang="en-US" sz="2190" spc="5" dirty="0">
                <a:latin typeface="Times New Roman"/>
                <a:cs typeface="Times New Roman"/>
              </a:rPr>
              <a:t>when</a:t>
            </a:r>
            <a:r>
              <a:rPr lang="en-US" sz="2190" spc="50" dirty="0">
                <a:latin typeface="Times New Roman"/>
                <a:cs typeface="Times New Roman"/>
              </a:rPr>
              <a:t> </a:t>
            </a:r>
            <a:r>
              <a:rPr lang="en-US" sz="2190" spc="10" dirty="0">
                <a:latin typeface="Times New Roman"/>
                <a:cs typeface="Times New Roman"/>
              </a:rPr>
              <a:t>compared </a:t>
            </a:r>
            <a:r>
              <a:rPr lang="en-US" sz="2190" spc="15" dirty="0">
                <a:latin typeface="Times New Roman"/>
                <a:cs typeface="Times New Roman"/>
              </a:rPr>
              <a:t> </a:t>
            </a:r>
            <a:r>
              <a:rPr lang="en-US" sz="2190" spc="5" dirty="0">
                <a:latin typeface="Times New Roman"/>
                <a:cs typeface="Times New Roman"/>
              </a:rPr>
              <a:t>with the priority scheduling. </a:t>
            </a:r>
            <a:r>
              <a:rPr lang="en-US" sz="2190" spc="10" dirty="0">
                <a:latin typeface="Times New Roman"/>
                <a:cs typeface="Times New Roman"/>
              </a:rPr>
              <a:t>Earliest deadline first</a:t>
            </a:r>
            <a:r>
              <a:rPr lang="en-US" sz="2190" spc="5" dirty="0">
                <a:latin typeface="Times New Roman"/>
                <a:cs typeface="Times New Roman"/>
              </a:rPr>
              <a:t> outperforms </a:t>
            </a:r>
            <a:r>
              <a:rPr lang="en-US" sz="2190" spc="10" dirty="0">
                <a:latin typeface="Times New Roman"/>
                <a:cs typeface="Times New Roman"/>
              </a:rPr>
              <a:t>in </a:t>
            </a:r>
            <a:r>
              <a:rPr lang="en-US" sz="2190" spc="5" dirty="0">
                <a:latin typeface="Times New Roman"/>
                <a:cs typeface="Times New Roman"/>
              </a:rPr>
              <a:t>priority scheduling </a:t>
            </a:r>
            <a:r>
              <a:rPr lang="en-US" sz="2190" spc="10" dirty="0">
                <a:latin typeface="Times New Roman"/>
                <a:cs typeface="Times New Roman"/>
              </a:rPr>
              <a:t>in </a:t>
            </a:r>
            <a:r>
              <a:rPr lang="en-US" sz="2190" spc="5" dirty="0">
                <a:latin typeface="Times New Roman"/>
                <a:cs typeface="Times New Roman"/>
              </a:rPr>
              <a:t>task </a:t>
            </a:r>
            <a:r>
              <a:rPr lang="en-US" sz="2190" spc="10" dirty="0">
                <a:latin typeface="Times New Roman"/>
                <a:cs typeface="Times New Roman"/>
              </a:rPr>
              <a:t>management </a:t>
            </a:r>
            <a:r>
              <a:rPr lang="en-US" sz="2190" spc="5" dirty="0">
                <a:latin typeface="Times New Roman"/>
                <a:cs typeface="Times New Roman"/>
              </a:rPr>
              <a:t>system  by better handling binary </a:t>
            </a:r>
            <a:r>
              <a:rPr lang="en-US" sz="2190" spc="10" dirty="0">
                <a:latin typeface="Times New Roman"/>
                <a:cs typeface="Times New Roman"/>
              </a:rPr>
              <a:t>outcome </a:t>
            </a:r>
            <a:r>
              <a:rPr lang="en-US" sz="2190" spc="5" dirty="0">
                <a:latin typeface="Times New Roman"/>
                <a:cs typeface="Times New Roman"/>
              </a:rPr>
              <a:t>prediction </a:t>
            </a:r>
            <a:r>
              <a:rPr lang="en-US" sz="2190" spc="10" dirty="0">
                <a:latin typeface="Times New Roman"/>
                <a:cs typeface="Times New Roman"/>
              </a:rPr>
              <a:t>and </a:t>
            </a:r>
            <a:r>
              <a:rPr lang="en-US" sz="2190" spc="5" dirty="0">
                <a:latin typeface="Times New Roman"/>
                <a:cs typeface="Times New Roman"/>
              </a:rPr>
              <a:t>proving </a:t>
            </a:r>
            <a:r>
              <a:rPr lang="en-US" sz="2190" spc="10" dirty="0">
                <a:latin typeface="Times New Roman"/>
                <a:cs typeface="Times New Roman"/>
              </a:rPr>
              <a:t> more</a:t>
            </a:r>
            <a:r>
              <a:rPr lang="en-US" sz="2190" spc="-15" dirty="0">
                <a:latin typeface="Times New Roman"/>
                <a:cs typeface="Times New Roman"/>
              </a:rPr>
              <a:t> </a:t>
            </a:r>
            <a:r>
              <a:rPr lang="en-US" sz="2190" spc="5" dirty="0">
                <a:latin typeface="Times New Roman"/>
                <a:cs typeface="Times New Roman"/>
              </a:rPr>
              <a:t>accurate</a:t>
            </a:r>
            <a:r>
              <a:rPr lang="en-US" sz="2190" spc="-5" dirty="0">
                <a:latin typeface="Times New Roman"/>
                <a:cs typeface="Times New Roman"/>
              </a:rPr>
              <a:t> </a:t>
            </a:r>
            <a:r>
              <a:rPr lang="en-US" sz="2190" spc="5" dirty="0">
                <a:latin typeface="Times New Roman"/>
                <a:cs typeface="Times New Roman"/>
              </a:rPr>
              <a:t>classification</a:t>
            </a:r>
            <a:endParaRPr lang="en-US" sz="2190" dirty="0">
              <a:latin typeface="Times New Roman"/>
              <a:cs typeface="Times New Roman"/>
            </a:endParaRPr>
          </a:p>
          <a:p>
            <a:pPr algn="just"/>
            <a:endParaRPr lang="en-US" sz="2189" b="1" dirty="0">
              <a:latin typeface="Times New Roman" panose="02020603050405020304" pitchFamily="18" charset="0"/>
              <a:cs typeface="Times New Roman" panose="02020603050405020304" pitchFamily="18" charset="0"/>
            </a:endParaRPr>
          </a:p>
        </p:txBody>
      </p:sp>
      <p:sp>
        <p:nvSpPr>
          <p:cNvPr id="30" name="Text Box 29"/>
          <p:cNvSpPr txBox="1"/>
          <p:nvPr/>
        </p:nvSpPr>
        <p:spPr>
          <a:xfrm>
            <a:off x="5921132" y="24475579"/>
            <a:ext cx="15955024" cy="366524"/>
          </a:xfrm>
          <a:prstGeom prst="rect">
            <a:avLst/>
          </a:prstGeom>
          <a:noFill/>
        </p:spPr>
        <p:txBody>
          <a:bodyPr wrap="square" rtlCol="0">
            <a:spAutoFit/>
          </a:bodyPr>
          <a:lstStyle/>
          <a:p>
            <a:endParaRPr lang="en-US" sz="1791"/>
          </a:p>
        </p:txBody>
      </p:sp>
      <p:sp>
        <p:nvSpPr>
          <p:cNvPr id="49" name="Rectangle 48"/>
          <p:cNvSpPr/>
          <p:nvPr/>
        </p:nvSpPr>
        <p:spPr>
          <a:xfrm>
            <a:off x="16106" y="-50532"/>
            <a:ext cx="21571523"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Mr. V.VAMSI</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192212079</a:t>
            </a:r>
          </a:p>
          <a:p>
            <a:pPr algn="r"/>
            <a:r>
              <a:rPr lang="en-US" sz="2189" b="1" dirty="0">
                <a:solidFill>
                  <a:schemeClr val="bg1"/>
                </a:solidFill>
                <a:latin typeface="Times New Roman" panose="02020603050405020304" pitchFamily="18" charset="0"/>
                <a:cs typeface="Times New Roman" panose="02020603050405020304" pitchFamily="18" charset="0"/>
              </a:rPr>
              <a:t>Guided by Dr. R. DINESH KUMAR </a:t>
            </a:r>
          </a:p>
        </p:txBody>
      </p:sp>
      <p:pic>
        <p:nvPicPr>
          <p:cNvPr id="1026" name="Picture 2" descr="Employee Task Management System: Everything You Need To Know">
            <a:extLst>
              <a:ext uri="{FF2B5EF4-FFF2-40B4-BE49-F238E27FC236}">
                <a16:creationId xmlns:a16="http://schemas.microsoft.com/office/drawing/2014/main" id="{C79C5A04-2CA0-8BF3-F26F-2761289A5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16525" y="4025296"/>
            <a:ext cx="6642087" cy="5959888"/>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Rounded Corners 47">
            <a:extLst>
              <a:ext uri="{FF2B5EF4-FFF2-40B4-BE49-F238E27FC236}">
                <a16:creationId xmlns:a16="http://schemas.microsoft.com/office/drawing/2014/main" id="{1BD17E6F-CD2B-E9A7-122E-0765593AF0EA}"/>
              </a:ext>
            </a:extLst>
          </p:cNvPr>
          <p:cNvSpPr/>
          <p:nvPr/>
        </p:nvSpPr>
        <p:spPr>
          <a:xfrm>
            <a:off x="407554" y="12151530"/>
            <a:ext cx="3576394" cy="19439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Initialization of Tasks</a:t>
            </a:r>
          </a:p>
        </p:txBody>
      </p:sp>
      <p:sp>
        <p:nvSpPr>
          <p:cNvPr id="51" name="Rectangle: Rounded Corners 50">
            <a:extLst>
              <a:ext uri="{FF2B5EF4-FFF2-40B4-BE49-F238E27FC236}">
                <a16:creationId xmlns:a16="http://schemas.microsoft.com/office/drawing/2014/main" id="{6EA4A118-D5DB-F00E-7000-36A05BC22657}"/>
              </a:ext>
            </a:extLst>
          </p:cNvPr>
          <p:cNvSpPr/>
          <p:nvPr/>
        </p:nvSpPr>
        <p:spPr>
          <a:xfrm>
            <a:off x="5387436" y="10851467"/>
            <a:ext cx="3741323" cy="18184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Tasks prioritization</a:t>
            </a:r>
          </a:p>
        </p:txBody>
      </p:sp>
      <p:sp>
        <p:nvSpPr>
          <p:cNvPr id="52" name="Rectangle: Rounded Corners 51">
            <a:extLst>
              <a:ext uri="{FF2B5EF4-FFF2-40B4-BE49-F238E27FC236}">
                <a16:creationId xmlns:a16="http://schemas.microsoft.com/office/drawing/2014/main" id="{B26880DC-C61C-8F91-D2E6-7FFDECE93673}"/>
              </a:ext>
            </a:extLst>
          </p:cNvPr>
          <p:cNvSpPr/>
          <p:nvPr/>
        </p:nvSpPr>
        <p:spPr>
          <a:xfrm>
            <a:off x="5387435" y="13520090"/>
            <a:ext cx="3741323" cy="18710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scheduling</a:t>
            </a:r>
          </a:p>
        </p:txBody>
      </p:sp>
      <p:sp>
        <p:nvSpPr>
          <p:cNvPr id="53" name="Rectangle: Rounded Corners 52">
            <a:extLst>
              <a:ext uri="{FF2B5EF4-FFF2-40B4-BE49-F238E27FC236}">
                <a16:creationId xmlns:a16="http://schemas.microsoft.com/office/drawing/2014/main" id="{496B0CD2-C680-82E4-1C22-52EA9D24276F}"/>
              </a:ext>
            </a:extLst>
          </p:cNvPr>
          <p:cNvSpPr/>
          <p:nvPr/>
        </p:nvSpPr>
        <p:spPr>
          <a:xfrm>
            <a:off x="10268335" y="11931054"/>
            <a:ext cx="3855720" cy="21070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Execution</a:t>
            </a:r>
          </a:p>
        </p:txBody>
      </p:sp>
      <p:sp>
        <p:nvSpPr>
          <p:cNvPr id="54" name="Rectangle: Rounded Corners 53">
            <a:extLst>
              <a:ext uri="{FF2B5EF4-FFF2-40B4-BE49-F238E27FC236}">
                <a16:creationId xmlns:a16="http://schemas.microsoft.com/office/drawing/2014/main" id="{46E5C60F-6DB6-B126-9EDF-FF73C96B556A}"/>
              </a:ext>
            </a:extLst>
          </p:cNvPr>
          <p:cNvSpPr/>
          <p:nvPr/>
        </p:nvSpPr>
        <p:spPr>
          <a:xfrm>
            <a:off x="15624907" y="10851467"/>
            <a:ext cx="3489960" cy="18184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Executed all the tasks</a:t>
            </a:r>
          </a:p>
        </p:txBody>
      </p:sp>
      <p:sp>
        <p:nvSpPr>
          <p:cNvPr id="55" name="Rectangle: Rounded Corners 54">
            <a:extLst>
              <a:ext uri="{FF2B5EF4-FFF2-40B4-BE49-F238E27FC236}">
                <a16:creationId xmlns:a16="http://schemas.microsoft.com/office/drawing/2014/main" id="{6DBBB032-38C8-2325-C6AD-C34EF2FECADC}"/>
              </a:ext>
            </a:extLst>
          </p:cNvPr>
          <p:cNvSpPr/>
          <p:nvPr/>
        </p:nvSpPr>
        <p:spPr>
          <a:xfrm>
            <a:off x="15639940" y="13421477"/>
            <a:ext cx="3489959" cy="18184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Result</a:t>
            </a:r>
          </a:p>
        </p:txBody>
      </p:sp>
      <p:cxnSp>
        <p:nvCxnSpPr>
          <p:cNvPr id="57" name="Straight Arrow Connector 56">
            <a:extLst>
              <a:ext uri="{FF2B5EF4-FFF2-40B4-BE49-F238E27FC236}">
                <a16:creationId xmlns:a16="http://schemas.microsoft.com/office/drawing/2014/main" id="{50A833BF-D86D-542D-E1E5-16133C214F0F}"/>
              </a:ext>
            </a:extLst>
          </p:cNvPr>
          <p:cNvCxnSpPr>
            <a:cxnSpLocks/>
            <a:endCxn id="52" idx="1"/>
          </p:cNvCxnSpPr>
          <p:nvPr/>
        </p:nvCxnSpPr>
        <p:spPr>
          <a:xfrm>
            <a:off x="3983948" y="13123527"/>
            <a:ext cx="1403487" cy="1332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88A9A89-2833-BA36-A48E-18058509327C}"/>
              </a:ext>
            </a:extLst>
          </p:cNvPr>
          <p:cNvCxnSpPr>
            <a:cxnSpLocks/>
            <a:endCxn id="51" idx="1"/>
          </p:cNvCxnSpPr>
          <p:nvPr/>
        </p:nvCxnSpPr>
        <p:spPr>
          <a:xfrm flipV="1">
            <a:off x="3983948" y="11760715"/>
            <a:ext cx="1403488" cy="1310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85F58C09-2077-FFE2-8776-44DCA26902B6}"/>
              </a:ext>
            </a:extLst>
          </p:cNvPr>
          <p:cNvCxnSpPr>
            <a:cxnSpLocks/>
            <a:stCxn id="51" idx="3"/>
            <a:endCxn id="53" idx="1"/>
          </p:cNvCxnSpPr>
          <p:nvPr/>
        </p:nvCxnSpPr>
        <p:spPr>
          <a:xfrm>
            <a:off x="9128759" y="11760715"/>
            <a:ext cx="1139576" cy="1223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7" name="Straight Arrow Connector 1026">
            <a:extLst>
              <a:ext uri="{FF2B5EF4-FFF2-40B4-BE49-F238E27FC236}">
                <a16:creationId xmlns:a16="http://schemas.microsoft.com/office/drawing/2014/main" id="{C1C58E43-8088-F01E-50F3-BA8D2AD6AC19}"/>
              </a:ext>
            </a:extLst>
          </p:cNvPr>
          <p:cNvCxnSpPr>
            <a:cxnSpLocks/>
            <a:stCxn id="52" idx="3"/>
          </p:cNvCxnSpPr>
          <p:nvPr/>
        </p:nvCxnSpPr>
        <p:spPr>
          <a:xfrm flipV="1">
            <a:off x="9128758" y="13002099"/>
            <a:ext cx="1139577" cy="14535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1" name="Straight Arrow Connector 1030">
            <a:extLst>
              <a:ext uri="{FF2B5EF4-FFF2-40B4-BE49-F238E27FC236}">
                <a16:creationId xmlns:a16="http://schemas.microsoft.com/office/drawing/2014/main" id="{217B3CA8-DCFD-4B31-F287-FA94F53D5CCA}"/>
              </a:ext>
            </a:extLst>
          </p:cNvPr>
          <p:cNvCxnSpPr>
            <a:stCxn id="53" idx="3"/>
            <a:endCxn id="54" idx="1"/>
          </p:cNvCxnSpPr>
          <p:nvPr/>
        </p:nvCxnSpPr>
        <p:spPr>
          <a:xfrm flipV="1">
            <a:off x="14124055" y="11760715"/>
            <a:ext cx="1500852" cy="1223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3" name="Straight Arrow Connector 1032">
            <a:extLst>
              <a:ext uri="{FF2B5EF4-FFF2-40B4-BE49-F238E27FC236}">
                <a16:creationId xmlns:a16="http://schemas.microsoft.com/office/drawing/2014/main" id="{8949C139-E3BD-108F-FD81-C34CF5E0639E}"/>
              </a:ext>
            </a:extLst>
          </p:cNvPr>
          <p:cNvCxnSpPr>
            <a:stCxn id="53" idx="3"/>
            <a:endCxn id="55" idx="1"/>
          </p:cNvCxnSpPr>
          <p:nvPr/>
        </p:nvCxnSpPr>
        <p:spPr>
          <a:xfrm>
            <a:off x="14124055" y="12984564"/>
            <a:ext cx="1515885" cy="1346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4" name="Picture 1033">
            <a:extLst>
              <a:ext uri="{FF2B5EF4-FFF2-40B4-BE49-F238E27FC236}">
                <a16:creationId xmlns:a16="http://schemas.microsoft.com/office/drawing/2014/main" id="{7F0D7269-9B9B-77C6-FED4-1626D282E92B}"/>
              </a:ext>
            </a:extLst>
          </p:cNvPr>
          <p:cNvPicPr>
            <a:picLocks noChangeAspect="1"/>
          </p:cNvPicPr>
          <p:nvPr/>
        </p:nvPicPr>
        <p:blipFill>
          <a:blip r:embed="rId4"/>
          <a:stretch>
            <a:fillRect/>
          </a:stretch>
        </p:blipFill>
        <p:spPr>
          <a:xfrm>
            <a:off x="66540" y="16429417"/>
            <a:ext cx="8422140" cy="4047314"/>
          </a:xfrm>
          <a:prstGeom prst="rect">
            <a:avLst/>
          </a:prstGeom>
        </p:spPr>
      </p:pic>
      <p:graphicFrame>
        <p:nvGraphicFramePr>
          <p:cNvPr id="1036" name="Table 1035">
            <a:extLst>
              <a:ext uri="{FF2B5EF4-FFF2-40B4-BE49-F238E27FC236}">
                <a16:creationId xmlns:a16="http://schemas.microsoft.com/office/drawing/2014/main" id="{748E9A04-F349-818A-B894-98EC52A30955}"/>
              </a:ext>
            </a:extLst>
          </p:cNvPr>
          <p:cNvGraphicFramePr>
            <a:graphicFrameLocks noGrp="1"/>
          </p:cNvGraphicFramePr>
          <p:nvPr>
            <p:extLst>
              <p:ext uri="{D42A27DB-BD31-4B8C-83A1-F6EECF244321}">
                <p14:modId xmlns:p14="http://schemas.microsoft.com/office/powerpoint/2010/main" val="3118413095"/>
              </p:ext>
            </p:extLst>
          </p:nvPr>
        </p:nvGraphicFramePr>
        <p:xfrm>
          <a:off x="8933921" y="16488929"/>
          <a:ext cx="11975358" cy="3987801"/>
        </p:xfrm>
        <a:graphic>
          <a:graphicData uri="http://schemas.openxmlformats.org/drawingml/2006/table">
            <a:tbl>
              <a:tblPr firstRow="1" bandRow="1">
                <a:tableStyleId>{5C22544A-7EE6-4342-B048-85BDC9FD1C3A}</a:tableStyleId>
              </a:tblPr>
              <a:tblGrid>
                <a:gridCol w="1995893">
                  <a:extLst>
                    <a:ext uri="{9D8B030D-6E8A-4147-A177-3AD203B41FA5}">
                      <a16:colId xmlns:a16="http://schemas.microsoft.com/office/drawing/2014/main" val="3433406173"/>
                    </a:ext>
                  </a:extLst>
                </a:gridCol>
                <a:gridCol w="1995893">
                  <a:extLst>
                    <a:ext uri="{9D8B030D-6E8A-4147-A177-3AD203B41FA5}">
                      <a16:colId xmlns:a16="http://schemas.microsoft.com/office/drawing/2014/main" val="1276546457"/>
                    </a:ext>
                  </a:extLst>
                </a:gridCol>
                <a:gridCol w="1995893">
                  <a:extLst>
                    <a:ext uri="{9D8B030D-6E8A-4147-A177-3AD203B41FA5}">
                      <a16:colId xmlns:a16="http://schemas.microsoft.com/office/drawing/2014/main" val="2586171897"/>
                    </a:ext>
                  </a:extLst>
                </a:gridCol>
                <a:gridCol w="1995893">
                  <a:extLst>
                    <a:ext uri="{9D8B030D-6E8A-4147-A177-3AD203B41FA5}">
                      <a16:colId xmlns:a16="http://schemas.microsoft.com/office/drawing/2014/main" val="4230013924"/>
                    </a:ext>
                  </a:extLst>
                </a:gridCol>
                <a:gridCol w="1995893">
                  <a:extLst>
                    <a:ext uri="{9D8B030D-6E8A-4147-A177-3AD203B41FA5}">
                      <a16:colId xmlns:a16="http://schemas.microsoft.com/office/drawing/2014/main" val="1483391895"/>
                    </a:ext>
                  </a:extLst>
                </a:gridCol>
                <a:gridCol w="1995893">
                  <a:extLst>
                    <a:ext uri="{9D8B030D-6E8A-4147-A177-3AD203B41FA5}">
                      <a16:colId xmlns:a16="http://schemas.microsoft.com/office/drawing/2014/main" val="2985050278"/>
                    </a:ext>
                  </a:extLst>
                </a:gridCol>
              </a:tblGrid>
              <a:tr h="1329267">
                <a:tc>
                  <a:txBody>
                    <a:bodyPr/>
                    <a:lstStyle/>
                    <a:p>
                      <a:endParaRPr lang="en-IN" sz="2190" dirty="0">
                        <a:latin typeface="Times New Roman" panose="02020603050405020304" pitchFamily="18" charset="0"/>
                        <a:cs typeface="Times New Roman" panose="02020603050405020304" pitchFamily="18" charset="0"/>
                      </a:endParaRPr>
                    </a:p>
                  </a:txBody>
                  <a:tcPr/>
                </a:tc>
                <a:tc>
                  <a:txBody>
                    <a:bodyPr/>
                    <a:lstStyle/>
                    <a:p>
                      <a:r>
                        <a:rPr lang="en-IN" sz="2190" dirty="0">
                          <a:latin typeface="Times New Roman" panose="02020603050405020304" pitchFamily="18" charset="0"/>
                          <a:cs typeface="Times New Roman" panose="02020603050405020304" pitchFamily="18" charset="0"/>
                        </a:rPr>
                        <a:t>  </a:t>
                      </a:r>
                      <a:r>
                        <a:rPr lang="en-IN" sz="2190" b="0" dirty="0">
                          <a:solidFill>
                            <a:schemeClr val="tx1"/>
                          </a:solidFill>
                          <a:latin typeface="Times New Roman" panose="02020603050405020304" pitchFamily="18" charset="0"/>
                          <a:cs typeface="Times New Roman" panose="02020603050405020304" pitchFamily="18" charset="0"/>
                        </a:rPr>
                        <a:t>Algorithm</a:t>
                      </a:r>
                    </a:p>
                  </a:txBody>
                  <a:tcPr/>
                </a:tc>
                <a:tc>
                  <a:txBody>
                    <a:bodyPr/>
                    <a:lstStyle/>
                    <a:p>
                      <a:r>
                        <a:rPr lang="en-IN" sz="2190" dirty="0">
                          <a:latin typeface="Times New Roman" panose="02020603050405020304" pitchFamily="18" charset="0"/>
                          <a:cs typeface="Times New Roman" panose="02020603050405020304" pitchFamily="18" charset="0"/>
                        </a:rPr>
                        <a:t>         </a:t>
                      </a:r>
                      <a:r>
                        <a:rPr lang="en-IN" sz="2190" b="0" dirty="0">
                          <a:solidFill>
                            <a:schemeClr val="tx1"/>
                          </a:solidFill>
                          <a:latin typeface="Times New Roman" panose="02020603050405020304" pitchFamily="18" charset="0"/>
                          <a:cs typeface="Times New Roman" panose="02020603050405020304" pitchFamily="18" charset="0"/>
                        </a:rPr>
                        <a:t>N</a:t>
                      </a:r>
                    </a:p>
                  </a:txBody>
                  <a:tcPr/>
                </a:tc>
                <a:tc>
                  <a:txBody>
                    <a:bodyPr/>
                    <a:lstStyle/>
                    <a:p>
                      <a:r>
                        <a:rPr lang="en-IN" sz="2190" dirty="0">
                          <a:latin typeface="Times New Roman" panose="02020603050405020304" pitchFamily="18" charset="0"/>
                          <a:cs typeface="Times New Roman" panose="02020603050405020304" pitchFamily="18" charset="0"/>
                        </a:rPr>
                        <a:t>     </a:t>
                      </a:r>
                      <a:r>
                        <a:rPr lang="en-IN" sz="2190" b="0" dirty="0">
                          <a:solidFill>
                            <a:schemeClr val="tx1"/>
                          </a:solidFill>
                          <a:latin typeface="Times New Roman" panose="02020603050405020304" pitchFamily="18" charset="0"/>
                          <a:cs typeface="Times New Roman" panose="02020603050405020304" pitchFamily="18" charset="0"/>
                        </a:rPr>
                        <a:t>Mean</a:t>
                      </a:r>
                    </a:p>
                  </a:txBody>
                  <a:tcPr/>
                </a:tc>
                <a:tc>
                  <a:txBody>
                    <a:bodyPr/>
                    <a:lstStyle/>
                    <a:p>
                      <a:r>
                        <a:rPr lang="en-IN" sz="2190" b="0" dirty="0">
                          <a:solidFill>
                            <a:schemeClr val="tx1"/>
                          </a:solidFill>
                          <a:latin typeface="Times New Roman" panose="02020603050405020304" pitchFamily="18" charset="0"/>
                          <a:cs typeface="Times New Roman" panose="02020603050405020304" pitchFamily="18" charset="0"/>
                        </a:rPr>
                        <a:t>Std.Deviation</a:t>
                      </a:r>
                    </a:p>
                  </a:txBody>
                  <a:tcPr/>
                </a:tc>
                <a:tc>
                  <a:txBody>
                    <a:bodyPr/>
                    <a:lstStyle/>
                    <a:p>
                      <a:r>
                        <a:rPr lang="en-IN" sz="2190" b="0" dirty="0">
                          <a:solidFill>
                            <a:schemeClr val="tx1"/>
                          </a:solidFill>
                          <a:latin typeface="Times New Roman" panose="02020603050405020304" pitchFamily="18" charset="0"/>
                          <a:cs typeface="Times New Roman" panose="02020603050405020304" pitchFamily="18" charset="0"/>
                        </a:rPr>
                        <a:t>Std.Error Mean</a:t>
                      </a:r>
                    </a:p>
                  </a:txBody>
                  <a:tcPr/>
                </a:tc>
                <a:extLst>
                  <a:ext uri="{0D108BD9-81ED-4DB2-BD59-A6C34878D82A}">
                    <a16:rowId xmlns:a16="http://schemas.microsoft.com/office/drawing/2014/main" val="2824908538"/>
                  </a:ext>
                </a:extLst>
              </a:tr>
              <a:tr h="1329267">
                <a:tc>
                  <a:txBody>
                    <a:bodyPr/>
                    <a:lstStyle/>
                    <a:p>
                      <a:r>
                        <a:rPr lang="en-IN" sz="2190" dirty="0">
                          <a:latin typeface="Times New Roman" panose="02020603050405020304" pitchFamily="18" charset="0"/>
                          <a:cs typeface="Times New Roman" panose="02020603050405020304" pitchFamily="18" charset="0"/>
                        </a:rPr>
                        <a:t>Accuracy</a:t>
                      </a:r>
                    </a:p>
                  </a:txBody>
                  <a:tcPr/>
                </a:tc>
                <a:tc>
                  <a:txBody>
                    <a:bodyPr/>
                    <a:lstStyle/>
                    <a:p>
                      <a:r>
                        <a:rPr lang="en-IN" sz="2190" dirty="0">
                          <a:latin typeface="Times New Roman" panose="02020603050405020304" pitchFamily="18" charset="0"/>
                          <a:cs typeface="Times New Roman" panose="02020603050405020304" pitchFamily="18" charset="0"/>
                        </a:rPr>
                        <a:t>Priority Scheduling</a:t>
                      </a:r>
                    </a:p>
                  </a:txBody>
                  <a:tcPr/>
                </a:tc>
                <a:tc>
                  <a:txBody>
                    <a:bodyPr/>
                    <a:lstStyle/>
                    <a:p>
                      <a:r>
                        <a:rPr lang="en-IN" sz="2190" dirty="0">
                          <a:latin typeface="Times New Roman" panose="02020603050405020304" pitchFamily="18" charset="0"/>
                          <a:cs typeface="Times New Roman" panose="02020603050405020304" pitchFamily="18" charset="0"/>
                        </a:rPr>
                        <a:t>      10</a:t>
                      </a:r>
                    </a:p>
                  </a:txBody>
                  <a:tcPr/>
                </a:tc>
                <a:tc>
                  <a:txBody>
                    <a:bodyPr/>
                    <a:lstStyle/>
                    <a:p>
                      <a:r>
                        <a:rPr lang="en-IN" sz="2190" dirty="0">
                          <a:latin typeface="Times New Roman" panose="02020603050405020304" pitchFamily="18" charset="0"/>
                          <a:cs typeface="Times New Roman" panose="02020603050405020304" pitchFamily="18" charset="0"/>
                        </a:rPr>
                        <a:t>   83.4000</a:t>
                      </a:r>
                    </a:p>
                  </a:txBody>
                  <a:tcPr/>
                </a:tc>
                <a:tc>
                  <a:txBody>
                    <a:bodyPr/>
                    <a:lstStyle/>
                    <a:p>
                      <a:r>
                        <a:rPr lang="en-IN" sz="2190" dirty="0">
                          <a:latin typeface="Times New Roman" panose="02020603050405020304" pitchFamily="18" charset="0"/>
                          <a:cs typeface="Times New Roman" panose="02020603050405020304" pitchFamily="18" charset="0"/>
                        </a:rPr>
                        <a:t>  8.24891</a:t>
                      </a:r>
                    </a:p>
                  </a:txBody>
                  <a:tcPr/>
                </a:tc>
                <a:tc>
                  <a:txBody>
                    <a:bodyPr/>
                    <a:lstStyle/>
                    <a:p>
                      <a:r>
                        <a:rPr lang="en-IN" sz="2190" dirty="0">
                          <a:latin typeface="Times New Roman" panose="02020603050405020304" pitchFamily="18" charset="0"/>
                          <a:cs typeface="Times New Roman" panose="02020603050405020304" pitchFamily="18" charset="0"/>
                        </a:rPr>
                        <a:t>  2.60853</a:t>
                      </a:r>
                    </a:p>
                  </a:txBody>
                  <a:tcPr/>
                </a:tc>
                <a:extLst>
                  <a:ext uri="{0D108BD9-81ED-4DB2-BD59-A6C34878D82A}">
                    <a16:rowId xmlns:a16="http://schemas.microsoft.com/office/drawing/2014/main" val="3030753384"/>
                  </a:ext>
                </a:extLst>
              </a:tr>
              <a:tr h="1329267">
                <a:tc>
                  <a:txBody>
                    <a:bodyPr/>
                    <a:lstStyle/>
                    <a:p>
                      <a:endParaRPr lang="en-IN" sz="2190">
                        <a:latin typeface="Times New Roman" panose="02020603050405020304" pitchFamily="18" charset="0"/>
                        <a:cs typeface="Times New Roman" panose="02020603050405020304" pitchFamily="18" charset="0"/>
                      </a:endParaRPr>
                    </a:p>
                  </a:txBody>
                  <a:tcPr/>
                </a:tc>
                <a:tc>
                  <a:txBody>
                    <a:bodyPr/>
                    <a:lstStyle/>
                    <a:p>
                      <a:r>
                        <a:rPr lang="en-IN" sz="2190" dirty="0">
                          <a:latin typeface="Times New Roman" panose="02020603050405020304" pitchFamily="18" charset="0"/>
                          <a:cs typeface="Times New Roman" panose="02020603050405020304" pitchFamily="18" charset="0"/>
                        </a:rPr>
                        <a:t>Earliest deadline first</a:t>
                      </a:r>
                    </a:p>
                  </a:txBody>
                  <a:tcPr/>
                </a:tc>
                <a:tc>
                  <a:txBody>
                    <a:bodyPr/>
                    <a:lstStyle/>
                    <a:p>
                      <a:r>
                        <a:rPr lang="en-IN" sz="2190" dirty="0">
                          <a:latin typeface="Times New Roman" panose="02020603050405020304" pitchFamily="18" charset="0"/>
                          <a:cs typeface="Times New Roman" panose="02020603050405020304" pitchFamily="18" charset="0"/>
                        </a:rPr>
                        <a:t>       10</a:t>
                      </a:r>
                    </a:p>
                  </a:txBody>
                  <a:tcPr/>
                </a:tc>
                <a:tc>
                  <a:txBody>
                    <a:bodyPr/>
                    <a:lstStyle/>
                    <a:p>
                      <a:r>
                        <a:rPr lang="en-IN" sz="2190" dirty="0">
                          <a:latin typeface="Times New Roman" panose="02020603050405020304" pitchFamily="18" charset="0"/>
                          <a:cs typeface="Times New Roman" panose="02020603050405020304" pitchFamily="18" charset="0"/>
                        </a:rPr>
                        <a:t>   84.3000</a:t>
                      </a:r>
                    </a:p>
                  </a:txBody>
                  <a:tcPr/>
                </a:tc>
                <a:tc>
                  <a:txBody>
                    <a:bodyPr/>
                    <a:lstStyle/>
                    <a:p>
                      <a:r>
                        <a:rPr lang="en-IN" sz="2190" dirty="0">
                          <a:latin typeface="Times New Roman" panose="02020603050405020304" pitchFamily="18" charset="0"/>
                          <a:cs typeface="Times New Roman" panose="02020603050405020304" pitchFamily="18" charset="0"/>
                        </a:rPr>
                        <a:t>  9.33393</a:t>
                      </a:r>
                    </a:p>
                  </a:txBody>
                  <a:tcPr/>
                </a:tc>
                <a:tc>
                  <a:txBody>
                    <a:bodyPr/>
                    <a:lstStyle/>
                    <a:p>
                      <a:r>
                        <a:rPr lang="en-IN" sz="2190" dirty="0">
                          <a:latin typeface="Times New Roman" panose="02020603050405020304" pitchFamily="18" charset="0"/>
                          <a:cs typeface="Times New Roman" panose="02020603050405020304" pitchFamily="18" charset="0"/>
                        </a:rPr>
                        <a:t>  2.95165</a:t>
                      </a:r>
                    </a:p>
                  </a:txBody>
                  <a:tcPr/>
                </a:tc>
                <a:extLst>
                  <a:ext uri="{0D108BD9-81ED-4DB2-BD59-A6C34878D82A}">
                    <a16:rowId xmlns:a16="http://schemas.microsoft.com/office/drawing/2014/main" val="173210449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144</TotalTime>
  <Words>970</Words>
  <Application>Microsoft Office PowerPoint</Application>
  <PresentationFormat>Custom</PresentationFormat>
  <Paragraphs>58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vamsi vallepu</cp:lastModifiedBy>
  <cp:revision>67</cp:revision>
  <dcterms:created xsi:type="dcterms:W3CDTF">2023-04-19T08:35:00Z</dcterms:created>
  <dcterms:modified xsi:type="dcterms:W3CDTF">2024-04-17T14:14:15Z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