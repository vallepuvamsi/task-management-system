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21599525" cy="32759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18" userDrawn="1">
          <p15:clr>
            <a:srgbClr val="A4A3A4"/>
          </p15:clr>
        </p15:guide>
        <p15:guide id="2" pos="67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282"/>
    <a:srgbClr val="D7F5CD"/>
    <a:srgbClr val="FCDCBF"/>
    <a:srgbClr val="BFE7FF"/>
    <a:srgbClr val="FFCFE7"/>
    <a:srgbClr val="FED67F"/>
    <a:srgbClr val="5F5F5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ABD030-0139-4F0F-B1BD-6750CF520152}" v="2" dt="2024-04-17T14:34:10.1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408" y="-6941"/>
      </p:cViewPr>
      <p:guideLst>
        <p:guide orient="horz" pos="10318"/>
        <p:guide pos="67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msi vallepu" userId="f9b9436ef6fb9761" providerId="LiveId" clId="{4BABD030-0139-4F0F-B1BD-6750CF520152}"/>
    <pc:docChg chg="undo custSel modSld">
      <pc:chgData name="vamsi vallepu" userId="f9b9436ef6fb9761" providerId="LiveId" clId="{4BABD030-0139-4F0F-B1BD-6750CF520152}" dt="2024-04-17T14:34:05.963" v="211" actId="20577"/>
      <pc:docMkLst>
        <pc:docMk/>
      </pc:docMkLst>
      <pc:sldChg chg="addSp delSp modSp mod">
        <pc:chgData name="vamsi vallepu" userId="f9b9436ef6fb9761" providerId="LiveId" clId="{4BABD030-0139-4F0F-B1BD-6750CF520152}" dt="2024-04-17T14:34:05.963" v="211" actId="20577"/>
        <pc:sldMkLst>
          <pc:docMk/>
          <pc:sldMk cId="0" sldId="256"/>
        </pc:sldMkLst>
        <pc:spChg chg="mod">
          <ac:chgData name="vamsi vallepu" userId="f9b9436ef6fb9761" providerId="LiveId" clId="{4BABD030-0139-4F0F-B1BD-6750CF520152}" dt="2024-04-17T14:29:31.706" v="183" actId="14100"/>
          <ac:spMkLst>
            <pc:docMk/>
            <pc:sldMk cId="0" sldId="256"/>
            <ac:spMk id="23" creationId="{00000000-0000-0000-0000-000000000000}"/>
          </ac:spMkLst>
        </pc:spChg>
        <pc:spChg chg="mod">
          <ac:chgData name="vamsi vallepu" userId="f9b9436ef6fb9761" providerId="LiveId" clId="{4BABD030-0139-4F0F-B1BD-6750CF520152}" dt="2024-04-17T14:31:47.299" v="193" actId="14100"/>
          <ac:spMkLst>
            <pc:docMk/>
            <pc:sldMk cId="0" sldId="256"/>
            <ac:spMk id="24" creationId="{00000000-0000-0000-0000-000000000000}"/>
          </ac:spMkLst>
        </pc:spChg>
        <pc:spChg chg="add del mod">
          <ac:chgData name="vamsi vallepu" userId="f9b9436ef6fb9761" providerId="LiveId" clId="{4BABD030-0139-4F0F-B1BD-6750CF520152}" dt="2024-04-17T14:32:03.430" v="199" actId="1076"/>
          <ac:spMkLst>
            <pc:docMk/>
            <pc:sldMk cId="0" sldId="256"/>
            <ac:spMk id="38" creationId="{00000000-0000-0000-0000-000000000000}"/>
          </ac:spMkLst>
        </pc:spChg>
        <pc:spChg chg="mod">
          <ac:chgData name="vamsi vallepu" userId="f9b9436ef6fb9761" providerId="LiveId" clId="{4BABD030-0139-4F0F-B1BD-6750CF520152}" dt="2024-04-17T14:34:05.963" v="211" actId="20577"/>
          <ac:spMkLst>
            <pc:docMk/>
            <pc:sldMk cId="0" sldId="256"/>
            <ac:spMk id="39" creationId="{00000000-0000-0000-0000-000000000000}"/>
          </ac:spMkLst>
        </pc:spChg>
        <pc:graphicFrameChg chg="modGraphic">
          <ac:chgData name="vamsi vallepu" userId="f9b9436ef6fb9761" providerId="LiveId" clId="{4BABD030-0139-4F0F-B1BD-6750CF520152}" dt="2024-04-17T14:24:33.202" v="9" actId="207"/>
          <ac:graphicFrameMkLst>
            <pc:docMk/>
            <pc:sldMk cId="0" sldId="256"/>
            <ac:graphicFrameMk id="1029" creationId="{E977F061-3264-6349-C708-5A4E86C27A6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61362"/>
            <a:ext cx="18359596" cy="11405211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206402"/>
            <a:ext cx="16199644" cy="7909330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9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57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167172"/>
            <a:ext cx="18629590" cy="13627102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923192"/>
            <a:ext cx="18629590" cy="7166171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46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720740"/>
            <a:ext cx="9179798" cy="2078569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720740"/>
            <a:ext cx="9179798" cy="2078569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107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44155"/>
            <a:ext cx="18629590" cy="6332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8030666"/>
            <a:ext cx="9137610" cy="3935706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966372"/>
            <a:ext cx="9137610" cy="1760073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8030666"/>
            <a:ext cx="9182611" cy="3935706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966372"/>
            <a:ext cx="9182611" cy="1760073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16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121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98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83977"/>
            <a:ext cx="6966409" cy="7643918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716790"/>
            <a:ext cx="10934760" cy="23280585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827895"/>
            <a:ext cx="6966409" cy="18207391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79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83977"/>
            <a:ext cx="6966409" cy="7643918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716790"/>
            <a:ext cx="10934760" cy="23280585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827895"/>
            <a:ext cx="6966409" cy="18207391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44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89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44148"/>
            <a:ext cx="4657398" cy="277622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44148"/>
            <a:ext cx="13702199" cy="277622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32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44155"/>
            <a:ext cx="18629590" cy="6332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720740"/>
            <a:ext cx="18629590" cy="20785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363349"/>
            <a:ext cx="4859893" cy="1744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363349"/>
            <a:ext cx="7289840" cy="1744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363349"/>
            <a:ext cx="4859893" cy="1744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59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374" y="3953436"/>
            <a:ext cx="21571523" cy="6074795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1"/>
          </a:p>
        </p:txBody>
      </p:sp>
      <p:sp>
        <p:nvSpPr>
          <p:cNvPr id="5" name="Rectangle 4"/>
          <p:cNvSpPr/>
          <p:nvPr/>
        </p:nvSpPr>
        <p:spPr>
          <a:xfrm>
            <a:off x="0" y="9966289"/>
            <a:ext cx="21599525" cy="5796133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1"/>
          </a:p>
        </p:txBody>
      </p:sp>
      <p:sp>
        <p:nvSpPr>
          <p:cNvPr id="6" name="Rectangle 5"/>
          <p:cNvSpPr/>
          <p:nvPr/>
        </p:nvSpPr>
        <p:spPr>
          <a:xfrm>
            <a:off x="0" y="15750100"/>
            <a:ext cx="21558877" cy="6283988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IN" sz="19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42228" y="21968050"/>
            <a:ext cx="21684935" cy="5352512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1"/>
          </a:p>
        </p:txBody>
      </p:sp>
      <p:sp>
        <p:nvSpPr>
          <p:cNvPr id="8" name="Rectangle 7"/>
          <p:cNvSpPr/>
          <p:nvPr/>
        </p:nvSpPr>
        <p:spPr>
          <a:xfrm>
            <a:off x="-8251" y="27346472"/>
            <a:ext cx="21670008" cy="5578746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1"/>
          </a:p>
        </p:txBody>
      </p:sp>
      <p:sp>
        <p:nvSpPr>
          <p:cNvPr id="19" name="Rectangle 18"/>
          <p:cNvSpPr/>
          <p:nvPr/>
        </p:nvSpPr>
        <p:spPr>
          <a:xfrm>
            <a:off x="53560" y="4034654"/>
            <a:ext cx="4258423" cy="5513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8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8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970" y="2522585"/>
            <a:ext cx="21568555" cy="150271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1"/>
          </a:p>
        </p:txBody>
      </p:sp>
      <p:sp>
        <p:nvSpPr>
          <p:cNvPr id="22" name="Rectangle 21"/>
          <p:cNvSpPr/>
          <p:nvPr/>
        </p:nvSpPr>
        <p:spPr>
          <a:xfrm>
            <a:off x="60153" y="15801540"/>
            <a:ext cx="2454868" cy="5513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8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8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2375" y="21913521"/>
            <a:ext cx="6348194" cy="5513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8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8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153" y="27385767"/>
            <a:ext cx="3795567" cy="5513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8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8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2197" y="2630559"/>
            <a:ext cx="20898834" cy="123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59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Short time task management system for increasing productivity by using priority Scheduling Comparing with Round Robin Scheduling.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53" y="10005307"/>
            <a:ext cx="6066327" cy="5513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8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8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25083" y="1463838"/>
            <a:ext cx="8384766" cy="85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88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Ms. Poorani.S            </a:t>
            </a:r>
            <a:endParaRPr lang="en-US" sz="2488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488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Guided by Dr. Mary Valantina. G</a:t>
            </a:r>
            <a:endParaRPr lang="en-IN" sz="2488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6483" y="4574153"/>
            <a:ext cx="14171371" cy="5145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en-IN" sz="2189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254" indent="-341254" algn="just">
              <a:buFont typeface="Wingdings" panose="05000000000000000000" pitchFamily="2" charset="2"/>
              <a:buChar char="Ø"/>
            </a:pPr>
            <a:r>
              <a:rPr lang="en-US" sz="21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priority scheduling system in your task management system. Describe how tasks are prioritized based on factors like urgency, importance, or other criteria.</a:t>
            </a:r>
          </a:p>
          <a:p>
            <a:pPr marL="341254" indent="-341254" algn="just">
              <a:buFont typeface="Wingdings" panose="05000000000000000000" pitchFamily="2" charset="2"/>
              <a:buChar char="Ø"/>
            </a:pPr>
            <a:r>
              <a:rPr lang="en-US" sz="21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benefits and limitations of priority scheduling. For instance, while it ensures that high-priority tasks are completed promptly, it may lead to potential starvation of lower-priority tasks.</a:t>
            </a:r>
          </a:p>
          <a:p>
            <a:pPr marL="341254" indent="-341254" algn="just">
              <a:buFont typeface="Wingdings" panose="05000000000000000000" pitchFamily="2" charset="2"/>
              <a:buChar char="Ø"/>
            </a:pPr>
            <a:r>
              <a:rPr lang="en-US" sz="21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round-robin scheduling and how it differs from priority scheduling. Round-robin scheduling involves treating all tasks equally in terms of priority and allocating CPU time in a circular manner.</a:t>
            </a:r>
          </a:p>
          <a:p>
            <a:pPr marL="341254" indent="-341254" algn="just">
              <a:buFont typeface="Wingdings" panose="05000000000000000000" pitchFamily="2" charset="2"/>
              <a:buChar char="Ø"/>
            </a:pPr>
            <a:r>
              <a:rPr lang="en-US" sz="21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advantages of round-robin scheduling, such as fairness in CPU allocation and prevention of starvation.</a:t>
            </a:r>
          </a:p>
          <a:p>
            <a:pPr marL="341254" indent="-341254" algn="just">
              <a:buFont typeface="Wingdings" panose="05000000000000000000" pitchFamily="2" charset="2"/>
              <a:buChar char="Ø"/>
            </a:pPr>
            <a:r>
              <a:rPr lang="en-US" sz="21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Rovide a clear rationale for transitioning from priority scheduling to round-robin scheduling. This could include the need for fairer resource allocation, addressing issues of starvation, or improving overall system performance.</a:t>
            </a:r>
          </a:p>
          <a:p>
            <a:pPr marL="341254" indent="-341254" algn="just">
              <a:buFont typeface="Wingdings" panose="05000000000000000000" pitchFamily="2" charset="2"/>
              <a:buChar char="Ø"/>
            </a:pPr>
            <a:r>
              <a:rPr lang="en-US" sz="21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 for implementing round-robin scheduling. This may involve modifying the task scheduler in your system or implementing a new scheduling algorithm altogether.</a:t>
            </a:r>
          </a:p>
          <a:p>
            <a:pPr marL="341254" indent="-341254" algn="just">
              <a:buFont typeface="Wingdings" panose="05000000000000000000" pitchFamily="2" charset="2"/>
              <a:buChar char="Ø"/>
            </a:pPr>
            <a:r>
              <a:rPr lang="en-US" sz="21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potential challenges or risks associated with the transition and develop mitigation strategies.</a:t>
            </a:r>
          </a:p>
          <a:p>
            <a:pPr marL="341254" indent="-341254" algn="just">
              <a:buFont typeface="Wingdings" panose="05000000000000000000" pitchFamily="2" charset="2"/>
              <a:buChar char="Ø"/>
            </a:pPr>
            <a:r>
              <a:rPr lang="en-US" sz="21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training or documentation on how round-robin scheduling works and how it will impact users' interactions with the system</a:t>
            </a:r>
            <a:r>
              <a:rPr lang="en-US" sz="218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189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84372" y="10973564"/>
            <a:ext cx="12078470" cy="39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9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3722" y="16844931"/>
            <a:ext cx="21139308" cy="284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1254" indent="-341254">
              <a:buFont typeface="Wingdings" panose="05000000000000000000" pitchFamily="2" charset="2"/>
              <a:buChar char="Ø"/>
            </a:pPr>
            <a:endParaRPr lang="en-IN" sz="19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254" indent="-341254">
              <a:buFont typeface="Wingdings" panose="05000000000000000000" pitchFamily="2" charset="2"/>
              <a:buChar char="Ø"/>
            </a:pPr>
            <a:endParaRPr lang="en-IN" sz="19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254" indent="-341254">
              <a:buFont typeface="Wingdings" panose="05000000000000000000" pitchFamily="2" charset="2"/>
              <a:buChar char="Ø"/>
            </a:pPr>
            <a:endParaRPr lang="en-IN" sz="19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254" indent="-341254">
              <a:buFont typeface="Wingdings" panose="05000000000000000000" pitchFamily="2" charset="2"/>
              <a:buChar char="Ø"/>
            </a:pPr>
            <a:endParaRPr lang="en-IN" sz="19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254" indent="-341254">
              <a:buFont typeface="Wingdings" panose="05000000000000000000" pitchFamily="2" charset="2"/>
              <a:buChar char="Ø"/>
            </a:pPr>
            <a:endParaRPr lang="en-IN" sz="19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254" indent="-341254">
              <a:buFont typeface="Wingdings" panose="05000000000000000000" pitchFamily="2" charset="2"/>
              <a:buChar char="Ø"/>
            </a:pPr>
            <a:endParaRPr lang="en-IN" sz="19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254" indent="-341254">
              <a:buFont typeface="Wingdings" panose="05000000000000000000" pitchFamily="2" charset="2"/>
              <a:buChar char="Ø"/>
            </a:pPr>
            <a:endParaRPr lang="en-IN" sz="19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254" indent="-341254">
              <a:buFont typeface="Wingdings" panose="05000000000000000000" pitchFamily="2" charset="2"/>
              <a:buChar char="Ø"/>
            </a:pPr>
            <a:endParaRPr lang="en-IN" sz="19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4877" y="22533197"/>
            <a:ext cx="20489198" cy="4636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1254" indent="-341254" algn="just">
              <a:buFont typeface="Wingdings" panose="05000000000000000000" pitchFamily="2" charset="2"/>
              <a:buChar char="Ø"/>
            </a:pPr>
            <a:r>
              <a:rPr lang="en-US" alt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 T-test Statistical analysis, the significance value of  p=0.001 (independent sample T - test p&lt;0.05) is obtained and shows that there is a statistical significant difference between the group 1 and group 2.</a:t>
            </a:r>
          </a:p>
          <a:p>
            <a:pPr marL="118110" marR="2315845" indent="-118110">
              <a:lnSpc>
                <a:spcPct val="104600"/>
              </a:lnSpc>
              <a:buFont typeface="Wingdings"/>
              <a:buChar char=""/>
              <a:tabLst>
                <a:tab pos="118110" algn="l"/>
                <a:tab pos="2058035" algn="l"/>
                <a:tab pos="2214880" algn="l"/>
              </a:tabLst>
            </a:pPr>
            <a:r>
              <a:rPr lang="en-US" sz="2190" spc="10" dirty="0">
                <a:latin typeface="Times New Roman"/>
                <a:cs typeface="Times New Roman"/>
              </a:rPr>
              <a:t>Overall </a:t>
            </a:r>
            <a:r>
              <a:rPr lang="en-US" sz="2190" spc="5" dirty="0">
                <a:latin typeface="Times New Roman"/>
                <a:cs typeface="Times New Roman"/>
              </a:rPr>
              <a:t>, the accuracy of the priority scheduling </a:t>
            </a:r>
            <a:r>
              <a:rPr lang="en-US" sz="2190" spc="10" dirty="0">
                <a:latin typeface="Times New Roman"/>
                <a:cs typeface="Times New Roman"/>
              </a:rPr>
              <a:t>(PS) </a:t>
            </a:r>
            <a:r>
              <a:rPr lang="en-US" sz="2190" spc="5" dirty="0">
                <a:latin typeface="Times New Roman"/>
                <a:cs typeface="Times New Roman"/>
              </a:rPr>
              <a:t>is 50.00 </a:t>
            </a:r>
            <a:r>
              <a:rPr lang="en-US" sz="2190" spc="20" dirty="0">
                <a:latin typeface="Times New Roman"/>
                <a:cs typeface="Times New Roman"/>
              </a:rPr>
              <a:t>% </a:t>
            </a:r>
            <a:r>
              <a:rPr lang="en-US" sz="2190" spc="10" dirty="0">
                <a:latin typeface="Times New Roman"/>
                <a:cs typeface="Times New Roman"/>
              </a:rPr>
              <a:t>and </a:t>
            </a:r>
            <a:r>
              <a:rPr lang="en-US" sz="2190" spc="5" dirty="0">
                <a:latin typeface="Times New Roman"/>
                <a:cs typeface="Times New Roman"/>
              </a:rPr>
              <a:t>it is better than the other </a:t>
            </a:r>
            <a:r>
              <a:rPr lang="en-US" sz="2190" spc="10" dirty="0">
                <a:latin typeface="Times New Roman"/>
                <a:cs typeface="Times New Roman"/>
              </a:rPr>
              <a:t>algorithm. </a:t>
            </a:r>
          </a:p>
          <a:p>
            <a:pPr marR="2315845">
              <a:lnSpc>
                <a:spcPct val="104600"/>
              </a:lnSpc>
              <a:tabLst>
                <a:tab pos="118110" algn="l"/>
                <a:tab pos="2058035" algn="l"/>
                <a:tab pos="2214880" algn="l"/>
              </a:tabLst>
            </a:pPr>
            <a:r>
              <a:rPr lang="en-US" sz="2190" spc="15" dirty="0">
                <a:latin typeface="Times New Roman"/>
                <a:cs typeface="Times New Roman"/>
              </a:rPr>
              <a:t>    </a:t>
            </a:r>
            <a:r>
              <a:rPr lang="en-US" sz="2190" spc="10" dirty="0">
                <a:latin typeface="Times New Roman"/>
                <a:cs typeface="Times New Roman"/>
              </a:rPr>
              <a:t>Round Robin Scheduling</a:t>
            </a:r>
            <a:r>
              <a:rPr lang="en-US" sz="2190" spc="15" dirty="0">
                <a:latin typeface="Times New Roman"/>
                <a:cs typeface="Times New Roman"/>
              </a:rPr>
              <a:t> </a:t>
            </a:r>
            <a:r>
              <a:rPr lang="en-US" sz="2190" spc="10" dirty="0">
                <a:latin typeface="Times New Roman"/>
                <a:cs typeface="Times New Roman"/>
              </a:rPr>
              <a:t>(RRS)	</a:t>
            </a:r>
            <a:r>
              <a:rPr lang="en-US" sz="2190" spc="5" dirty="0">
                <a:latin typeface="Times New Roman"/>
                <a:cs typeface="Times New Roman"/>
              </a:rPr>
              <a:t>-	</a:t>
            </a:r>
            <a:r>
              <a:rPr lang="en-US" sz="2190" spc="10" dirty="0">
                <a:latin typeface="Times New Roman"/>
                <a:cs typeface="Times New Roman"/>
              </a:rPr>
              <a:t>45.00%</a:t>
            </a:r>
          </a:p>
          <a:p>
            <a:pPr marR="2315845">
              <a:lnSpc>
                <a:spcPct val="104600"/>
              </a:lnSpc>
              <a:tabLst>
                <a:tab pos="118110" algn="l"/>
                <a:tab pos="2058035" algn="l"/>
                <a:tab pos="2214880" algn="l"/>
              </a:tabLst>
            </a:pPr>
            <a:r>
              <a:rPr lang="en-US" sz="2190" spc="10" dirty="0">
                <a:latin typeface="Times New Roman"/>
                <a:cs typeface="Times New Roman"/>
              </a:rPr>
              <a:t>    deadline scheduling</a:t>
            </a:r>
            <a:r>
              <a:rPr lang="en-US" sz="2190" dirty="0">
                <a:latin typeface="Times New Roman"/>
                <a:cs typeface="Times New Roman"/>
              </a:rPr>
              <a:t>  (DS)             -     33.00%</a:t>
            </a:r>
          </a:p>
          <a:p>
            <a:pPr marR="2315845">
              <a:lnSpc>
                <a:spcPct val="104600"/>
              </a:lnSpc>
              <a:tabLst>
                <a:tab pos="118110" algn="l"/>
                <a:tab pos="2058035" algn="l"/>
                <a:tab pos="2214880" algn="l"/>
              </a:tabLst>
            </a:pPr>
            <a:r>
              <a:rPr lang="en-US" sz="2190" dirty="0">
                <a:latin typeface="Times New Roman"/>
                <a:cs typeface="Times New Roman"/>
              </a:rPr>
              <a:t>    priority scheduling     (PS)             -     50.00%</a:t>
            </a:r>
          </a:p>
          <a:p>
            <a:pPr marR="2315845">
              <a:lnSpc>
                <a:spcPct val="104600"/>
              </a:lnSpc>
              <a:tabLst>
                <a:tab pos="118110" algn="l"/>
                <a:tab pos="2058035" algn="l"/>
                <a:tab pos="2214880" algn="l"/>
              </a:tabLst>
            </a:pPr>
            <a:r>
              <a:rPr lang="en-US" sz="2190" dirty="0">
                <a:latin typeface="Times New Roman"/>
                <a:cs typeface="Times New Roman"/>
              </a:rPr>
              <a:t>    first come first sreve  (FCFS)        -      45.00%</a:t>
            </a:r>
          </a:p>
          <a:p>
            <a:pPr marR="2315845">
              <a:lnSpc>
                <a:spcPct val="104600"/>
              </a:lnSpc>
              <a:tabLst>
                <a:tab pos="118110" algn="l"/>
                <a:tab pos="2058035" algn="l"/>
                <a:tab pos="2214880" algn="l"/>
              </a:tabLst>
            </a:pPr>
            <a:r>
              <a:rPr lang="en-US" sz="2190" dirty="0">
                <a:latin typeface="Times New Roman"/>
                <a:cs typeface="Times New Roman"/>
              </a:rPr>
              <a:t>    Earliest deadline first (EDF)         -      35.12%</a:t>
            </a:r>
          </a:p>
          <a:p>
            <a:pPr marL="342900" marR="2315845" indent="-342900">
              <a:lnSpc>
                <a:spcPct val="104600"/>
              </a:lnSpc>
              <a:buFont typeface="Wingdings" panose="05000000000000000000" pitchFamily="2" charset="2"/>
              <a:buChar char="Ø"/>
              <a:tabLst>
                <a:tab pos="118110" algn="l"/>
                <a:tab pos="2058035" algn="l"/>
                <a:tab pos="2214880" algn="l"/>
              </a:tabLst>
            </a:pPr>
            <a:r>
              <a:rPr lang="en-US" sz="2190" dirty="0">
                <a:latin typeface="Times New Roman"/>
                <a:cs typeface="Times New Roman"/>
              </a:rPr>
              <a:t>the transition process, careful planning, communication, and testing are essential to ensure a smooth and successful implementation. understanding of the rationale behind the transition are crucial for its acceptance and adoption.</a:t>
            </a:r>
          </a:p>
          <a:p>
            <a:pPr marL="342900" marR="2315845" indent="-342900">
              <a:lnSpc>
                <a:spcPct val="104600"/>
              </a:lnSpc>
              <a:buFont typeface="Wingdings" panose="05000000000000000000" pitchFamily="2" charset="2"/>
              <a:buChar char="Ø"/>
              <a:tabLst>
                <a:tab pos="118110" algn="l"/>
                <a:tab pos="2058035" algn="l"/>
                <a:tab pos="2214880" algn="l"/>
              </a:tabLst>
            </a:pPr>
            <a:r>
              <a:rPr lang="en-US" sz="2190" dirty="0">
                <a:latin typeface="Times New Roman"/>
                <a:cs typeface="Times New Roman"/>
              </a:rPr>
              <a:t>By following a structured approach, including understanding the current system, introducing round-robin scheduling, planning and preparation, communication, testing, deployment, and ongoing evaluation and optimization, organizations can effectively make and maximizing the benefits for all users.</a:t>
            </a:r>
          </a:p>
          <a:p>
            <a:pPr marL="342900" marR="2315845" indent="-342900">
              <a:lnSpc>
                <a:spcPct val="104600"/>
              </a:lnSpc>
              <a:buFont typeface="Wingdings" panose="05000000000000000000" pitchFamily="2" charset="2"/>
              <a:buChar char="Ø"/>
              <a:tabLst>
                <a:tab pos="118110" algn="l"/>
                <a:tab pos="2058035" algn="l"/>
                <a:tab pos="2214880" algn="l"/>
              </a:tabLst>
            </a:pPr>
            <a:r>
              <a:rPr lang="en-US" sz="2190" dirty="0">
                <a:latin typeface="Times New Roman"/>
                <a:cs typeface="Times New Roman"/>
              </a:rPr>
              <a:t>The Round Robin Scheduling is the priority scheduling less then of the deadline scheduling in format minimum benfits for all users in the community.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53" y="28025502"/>
            <a:ext cx="21139308" cy="481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A. Jeon, N. S. Kim, J. G. Go, T. J. Park, H. Y. Kang, and C. S. Pyo, “IoT devices product and technology trends,” Journal of the Korean Institute of Communication Sciences, vol. 31, no. 4, pp. 44-52, 2014.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H. Kang, H. J. Kim, and M. S. Jun, “Market and technical trends of internet of things,” Korea Contents Association Review, vol. 13, no. 1, pp. 14-17, 2015.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Husain, A. Prasad, A. Kunz, A. Papageorgiou, and J. S. Song, “Recent trends in standards related to the internet of things and machine-to-machine communications,” Journal of Information and Communication Convergence Engineering, vol. 12, no. 4, pp. 228-236, 2014.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T. Lee, W. H. Hsiao, C. M. Huang, and S. C. T. Chou, “An integrated cloud-based smart home management system with community hierarchy,” IEEE Transactions on Consumer Electronics, vol. 62, no. 1, pp. 1-9, 2016.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Zeng, S. K. Garg, P. Strazdins, P. P. Jayaraman, D. Georgakopoulos, and R. Ranjan, “IOTSim: a simulator for analysing IoT applications,” Journal of Systems Architecture, vol. 72, pp. 93-107, 2017.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Zhao, L. Yu, and B. Cheng, “An event-driven service provisioning mechanism for IoT (internet of things) system interaction,” IEEE Access, vol. 4, pp. 5038-5051, 2016.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Lee, S. Cho, P. Chu, H. Vu, S. Helal, W. Song, Y. S. Jeong, and K. Cho, “Automatic agent generation for IoT-based smart house simulator,” Neurocomputing, vol. 209, pp. 14-24, 2016.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Singh, R. 2003. RCal: An autonomous agent for intelligent distributed meeting scheduling. In Technical Report CMU-RI-TR-03-46, Robotics Institute. Carnegie Mellon University, Pittsburgh, PA.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130885" y="20702941"/>
            <a:ext cx="21040630" cy="1440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9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90" spc="10" dirty="0">
                <a:latin typeface="Times New Roman"/>
                <a:cs typeface="Times New Roman"/>
              </a:rPr>
              <a:t>In</a:t>
            </a:r>
            <a:r>
              <a:rPr lang="en-US" sz="2190" spc="50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the</a:t>
            </a:r>
            <a:r>
              <a:rPr lang="en-US" sz="2190" spc="50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present</a:t>
            </a:r>
            <a:r>
              <a:rPr lang="en-US" sz="2190" spc="65" dirty="0">
                <a:latin typeface="Times New Roman"/>
                <a:cs typeface="Times New Roman"/>
              </a:rPr>
              <a:t> </a:t>
            </a:r>
            <a:r>
              <a:rPr lang="en-US" sz="2190" dirty="0">
                <a:latin typeface="Times New Roman"/>
                <a:cs typeface="Times New Roman"/>
              </a:rPr>
              <a:t>work,</a:t>
            </a:r>
            <a:r>
              <a:rPr lang="en-US" sz="2190" spc="55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priority</a:t>
            </a:r>
            <a:r>
              <a:rPr lang="en-US" sz="2190" spc="40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scheduling</a:t>
            </a:r>
            <a:r>
              <a:rPr lang="en-US" sz="2190" spc="60" dirty="0">
                <a:latin typeface="Times New Roman"/>
                <a:cs typeface="Times New Roman"/>
              </a:rPr>
              <a:t> </a:t>
            </a:r>
            <a:r>
              <a:rPr lang="en-US" sz="2190" spc="10" dirty="0">
                <a:latin typeface="Times New Roman"/>
                <a:cs typeface="Times New Roman"/>
              </a:rPr>
              <a:t>(PS)</a:t>
            </a:r>
            <a:r>
              <a:rPr lang="en-US" sz="2190" spc="60" dirty="0">
                <a:latin typeface="Times New Roman"/>
                <a:cs typeface="Times New Roman"/>
              </a:rPr>
              <a:t> </a:t>
            </a:r>
            <a:r>
              <a:rPr lang="en-US" sz="2190" spc="-5" dirty="0">
                <a:latin typeface="Times New Roman"/>
                <a:cs typeface="Times New Roman"/>
              </a:rPr>
              <a:t>is</a:t>
            </a:r>
            <a:r>
              <a:rPr lang="en-US" sz="2190" spc="60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compared</a:t>
            </a:r>
            <a:r>
              <a:rPr lang="en-US" sz="2190" spc="50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with</a:t>
            </a:r>
            <a:r>
              <a:rPr lang="en-US" sz="2190" spc="50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Round Robin Scheduling</a:t>
            </a:r>
            <a:r>
              <a:rPr lang="en-US" sz="2190" spc="55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(RRS)</a:t>
            </a:r>
            <a:r>
              <a:rPr lang="en-US" sz="2190" spc="50" dirty="0">
                <a:latin typeface="Times New Roman"/>
                <a:cs typeface="Times New Roman"/>
              </a:rPr>
              <a:t> </a:t>
            </a:r>
            <a:r>
              <a:rPr lang="en-US" sz="2190" spc="10" dirty="0">
                <a:latin typeface="Times New Roman"/>
                <a:cs typeface="Times New Roman"/>
              </a:rPr>
              <a:t>and</a:t>
            </a:r>
            <a:r>
              <a:rPr lang="en-US" sz="2190" spc="50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it</a:t>
            </a:r>
            <a:r>
              <a:rPr lang="en-US" sz="2190" spc="55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depicts</a:t>
            </a:r>
            <a:r>
              <a:rPr lang="en-US" sz="2190" spc="55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that</a:t>
            </a:r>
            <a:r>
              <a:rPr lang="en-US" sz="2190" spc="55" dirty="0">
                <a:latin typeface="Times New Roman"/>
                <a:cs typeface="Times New Roman"/>
              </a:rPr>
              <a:t> </a:t>
            </a:r>
            <a:r>
              <a:rPr lang="en-US" sz="2190" dirty="0">
                <a:latin typeface="Times New Roman"/>
                <a:cs typeface="Times New Roman"/>
              </a:rPr>
              <a:t>the</a:t>
            </a:r>
            <a:r>
              <a:rPr lang="en-US" sz="2190" spc="50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proposed</a:t>
            </a:r>
            <a:r>
              <a:rPr lang="en-US" sz="2190" spc="50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algorithm</a:t>
            </a:r>
            <a:r>
              <a:rPr lang="en-US" sz="2190" spc="70" dirty="0">
                <a:latin typeface="Times New Roman"/>
                <a:cs typeface="Times New Roman"/>
              </a:rPr>
              <a:t> </a:t>
            </a:r>
            <a:r>
              <a:rPr lang="en-US" sz="2190" spc="10" dirty="0">
                <a:latin typeface="Times New Roman"/>
                <a:cs typeface="Times New Roman"/>
              </a:rPr>
              <a:t>gives</a:t>
            </a:r>
            <a:r>
              <a:rPr lang="en-US" sz="2190" spc="35" dirty="0">
                <a:latin typeface="Times New Roman"/>
                <a:cs typeface="Times New Roman"/>
              </a:rPr>
              <a:t> </a:t>
            </a:r>
            <a:r>
              <a:rPr lang="en-US" sz="2190" spc="10" dirty="0">
                <a:latin typeface="Times New Roman"/>
                <a:cs typeface="Times New Roman"/>
              </a:rPr>
              <a:t>more</a:t>
            </a:r>
            <a:r>
              <a:rPr lang="en-US" sz="2190" spc="50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accuracy</a:t>
            </a:r>
            <a:r>
              <a:rPr lang="en-US" sz="2190" spc="50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when</a:t>
            </a:r>
            <a:r>
              <a:rPr lang="en-US" sz="2190" spc="50" dirty="0">
                <a:latin typeface="Times New Roman"/>
                <a:cs typeface="Times New Roman"/>
              </a:rPr>
              <a:t> </a:t>
            </a:r>
            <a:r>
              <a:rPr lang="en-US" sz="2190" spc="10" dirty="0">
                <a:latin typeface="Times New Roman"/>
                <a:cs typeface="Times New Roman"/>
              </a:rPr>
              <a:t>compared </a:t>
            </a:r>
            <a:r>
              <a:rPr lang="en-US" sz="2190" spc="15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with the priority scheduling. </a:t>
            </a:r>
            <a:r>
              <a:rPr lang="en-US" sz="2190" spc="10" dirty="0">
                <a:latin typeface="Times New Roman"/>
                <a:cs typeface="Times New Roman"/>
              </a:rPr>
              <a:t>Round Robin Scheduling</a:t>
            </a:r>
            <a:r>
              <a:rPr lang="en-US" sz="2190" spc="5" dirty="0">
                <a:latin typeface="Times New Roman"/>
                <a:cs typeface="Times New Roman"/>
              </a:rPr>
              <a:t> outperforms </a:t>
            </a:r>
            <a:r>
              <a:rPr lang="en-US" sz="2190" spc="10" dirty="0">
                <a:latin typeface="Times New Roman"/>
                <a:cs typeface="Times New Roman"/>
              </a:rPr>
              <a:t>in </a:t>
            </a:r>
            <a:r>
              <a:rPr lang="en-US" sz="2190" spc="5" dirty="0">
                <a:latin typeface="Times New Roman"/>
                <a:cs typeface="Times New Roman"/>
              </a:rPr>
              <a:t>priority scheduling </a:t>
            </a:r>
            <a:r>
              <a:rPr lang="en-US" sz="2190" spc="10" dirty="0">
                <a:latin typeface="Times New Roman"/>
                <a:cs typeface="Times New Roman"/>
              </a:rPr>
              <a:t>in </a:t>
            </a:r>
            <a:r>
              <a:rPr lang="en-US" sz="2190" spc="5" dirty="0">
                <a:latin typeface="Times New Roman"/>
                <a:cs typeface="Times New Roman"/>
              </a:rPr>
              <a:t>task </a:t>
            </a:r>
            <a:r>
              <a:rPr lang="en-US" sz="2190" spc="10" dirty="0">
                <a:latin typeface="Times New Roman"/>
                <a:cs typeface="Times New Roman"/>
              </a:rPr>
              <a:t>management </a:t>
            </a:r>
            <a:r>
              <a:rPr lang="en-US" sz="2190" spc="5" dirty="0">
                <a:latin typeface="Times New Roman"/>
                <a:cs typeface="Times New Roman"/>
              </a:rPr>
              <a:t>system  by better handling binary </a:t>
            </a:r>
            <a:r>
              <a:rPr lang="en-US" sz="2190" spc="10" dirty="0">
                <a:latin typeface="Times New Roman"/>
                <a:cs typeface="Times New Roman"/>
              </a:rPr>
              <a:t>outcome </a:t>
            </a:r>
            <a:r>
              <a:rPr lang="en-US" sz="2190" spc="5" dirty="0">
                <a:latin typeface="Times New Roman"/>
                <a:cs typeface="Times New Roman"/>
              </a:rPr>
              <a:t>prediction </a:t>
            </a:r>
            <a:r>
              <a:rPr lang="en-US" sz="2190" spc="10" dirty="0">
                <a:latin typeface="Times New Roman"/>
                <a:cs typeface="Times New Roman"/>
              </a:rPr>
              <a:t>and </a:t>
            </a:r>
            <a:r>
              <a:rPr lang="en-US" sz="2190" spc="5" dirty="0">
                <a:latin typeface="Times New Roman"/>
                <a:cs typeface="Times New Roman"/>
              </a:rPr>
              <a:t>proving </a:t>
            </a:r>
            <a:r>
              <a:rPr lang="en-US" sz="2190" spc="10" dirty="0">
                <a:latin typeface="Times New Roman"/>
                <a:cs typeface="Times New Roman"/>
              </a:rPr>
              <a:t> more</a:t>
            </a:r>
            <a:r>
              <a:rPr lang="en-US" sz="2190" spc="-15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accurate</a:t>
            </a:r>
            <a:r>
              <a:rPr lang="en-US" sz="2190" spc="-5" dirty="0">
                <a:latin typeface="Times New Roman"/>
                <a:cs typeface="Times New Roman"/>
              </a:rPr>
              <a:t> </a:t>
            </a:r>
            <a:r>
              <a:rPr lang="en-US" sz="2190" spc="5" dirty="0">
                <a:latin typeface="Times New Roman"/>
                <a:cs typeface="Times New Roman"/>
              </a:rPr>
              <a:t>classification</a:t>
            </a:r>
            <a:endParaRPr lang="en-US" sz="2190" dirty="0">
              <a:latin typeface="Times New Roman"/>
              <a:cs typeface="Times New Roman"/>
            </a:endParaRPr>
          </a:p>
          <a:p>
            <a:pPr algn="just"/>
            <a:endParaRPr lang="en-US" sz="2189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5921132" y="24475579"/>
            <a:ext cx="15955024" cy="366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791"/>
          </a:p>
        </p:txBody>
      </p:sp>
      <p:sp>
        <p:nvSpPr>
          <p:cNvPr id="49" name="Rectangle 48"/>
          <p:cNvSpPr/>
          <p:nvPr/>
        </p:nvSpPr>
        <p:spPr>
          <a:xfrm>
            <a:off x="16106" y="-50532"/>
            <a:ext cx="21571523" cy="2569325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1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13" y="-8622"/>
            <a:ext cx="20939802" cy="2432309"/>
          </a:xfrm>
          <a:prstGeom prst="rect">
            <a:avLst/>
          </a:prstGeom>
        </p:spPr>
      </p:pic>
      <p:sp>
        <p:nvSpPr>
          <p:cNvPr id="50" name="Text Box 41"/>
          <p:cNvSpPr txBox="1"/>
          <p:nvPr/>
        </p:nvSpPr>
        <p:spPr>
          <a:xfrm>
            <a:off x="15639940" y="1419256"/>
            <a:ext cx="5569043" cy="1102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189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Mr. V.VAMSI</a:t>
            </a:r>
            <a:br>
              <a:rPr lang="en-US" sz="2189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89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Number: 192212079</a:t>
            </a:r>
          </a:p>
          <a:p>
            <a:pPr algn="r"/>
            <a:r>
              <a:rPr lang="en-US" sz="2189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Dr. R.DINESH KUMAR </a:t>
            </a:r>
          </a:p>
        </p:txBody>
      </p:sp>
      <p:pic>
        <p:nvPicPr>
          <p:cNvPr id="1026" name="Picture 2" descr="What is Task Management System Software Application Tools. Request Free  Demo from WebERP4">
            <a:extLst>
              <a:ext uri="{FF2B5EF4-FFF2-40B4-BE49-F238E27FC236}">
                <a16:creationId xmlns:a16="http://schemas.microsoft.com/office/drawing/2014/main" id="{3DAA7005-9342-94C5-1505-6EE482B43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1964" y="4042360"/>
            <a:ext cx="7054002" cy="5906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05F58CF-172D-AF13-2854-ABD116D35945}"/>
              </a:ext>
            </a:extLst>
          </p:cNvPr>
          <p:cNvSpPr/>
          <p:nvPr/>
        </p:nvSpPr>
        <p:spPr>
          <a:xfrm>
            <a:off x="1384372" y="10607389"/>
            <a:ext cx="4233950" cy="21207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Queue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BF4947F-A387-AB34-00FA-C7E85581B9B5}"/>
              </a:ext>
            </a:extLst>
          </p:cNvPr>
          <p:cNvSpPr/>
          <p:nvPr/>
        </p:nvSpPr>
        <p:spPr>
          <a:xfrm>
            <a:off x="1384372" y="13329525"/>
            <a:ext cx="4233950" cy="21207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Burest Time Quantum Time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6ADDAA-E8D7-CB2D-4A2E-2229B3EF573C}"/>
              </a:ext>
            </a:extLst>
          </p:cNvPr>
          <p:cNvSpPr/>
          <p:nvPr/>
        </p:nvSpPr>
        <p:spPr>
          <a:xfrm>
            <a:off x="6360568" y="11702557"/>
            <a:ext cx="4008908" cy="22314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for Time Quantum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AB28FB2-96B9-01CF-BF3A-2266825A5FEB}"/>
              </a:ext>
            </a:extLst>
          </p:cNvPr>
          <p:cNvSpPr/>
          <p:nvPr/>
        </p:nvSpPr>
        <p:spPr>
          <a:xfrm>
            <a:off x="16070477" y="10547368"/>
            <a:ext cx="4707967" cy="21054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till completion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1B62D06-0BFB-7778-E122-FB2A2C419D62}"/>
              </a:ext>
            </a:extLst>
          </p:cNvPr>
          <p:cNvSpPr/>
          <p:nvPr/>
        </p:nvSpPr>
        <p:spPr>
          <a:xfrm>
            <a:off x="16070477" y="13223928"/>
            <a:ext cx="4707967" cy="2134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Termination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E75700C-5DFC-532C-C94F-2FF283FBB857}"/>
              </a:ext>
            </a:extLst>
          </p:cNvPr>
          <p:cNvSpPr/>
          <p:nvPr/>
        </p:nvSpPr>
        <p:spPr>
          <a:xfrm>
            <a:off x="11111723" y="11702557"/>
            <a:ext cx="3898898" cy="2231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Executed Completely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D606B0E-1C1F-D2CC-9F1F-35F7F184AAE5}"/>
              </a:ext>
            </a:extLst>
          </p:cNvPr>
          <p:cNvCxnSpPr>
            <a:stCxn id="18" idx="3"/>
          </p:cNvCxnSpPr>
          <p:nvPr/>
        </p:nvCxnSpPr>
        <p:spPr>
          <a:xfrm>
            <a:off x="5618322" y="11667775"/>
            <a:ext cx="742246" cy="63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EC4F350-6A46-BF45-5871-D983F999D399}"/>
              </a:ext>
            </a:extLst>
          </p:cNvPr>
          <p:cNvCxnSpPr>
            <a:cxnSpLocks/>
            <a:endCxn id="51" idx="1"/>
          </p:cNvCxnSpPr>
          <p:nvPr/>
        </p:nvCxnSpPr>
        <p:spPr>
          <a:xfrm flipV="1">
            <a:off x="5618322" y="12818272"/>
            <a:ext cx="742246" cy="1522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2BBCBDB-587A-2745-7BCB-030C4D94CC9C}"/>
              </a:ext>
            </a:extLst>
          </p:cNvPr>
          <p:cNvCxnSpPr>
            <a:endCxn id="54" idx="1"/>
          </p:cNvCxnSpPr>
          <p:nvPr/>
        </p:nvCxnSpPr>
        <p:spPr>
          <a:xfrm>
            <a:off x="10369476" y="12813800"/>
            <a:ext cx="742247" cy="4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8A49126-D396-84EA-A3F4-F51FBF5B1585}"/>
              </a:ext>
            </a:extLst>
          </p:cNvPr>
          <p:cNvCxnSpPr>
            <a:stCxn id="54" idx="3"/>
          </p:cNvCxnSpPr>
          <p:nvPr/>
        </p:nvCxnSpPr>
        <p:spPr>
          <a:xfrm flipV="1">
            <a:off x="15010621" y="11667775"/>
            <a:ext cx="1059856" cy="1150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BC76CC8F-1630-AF68-64F7-03AF4096998F}"/>
              </a:ext>
            </a:extLst>
          </p:cNvPr>
          <p:cNvCxnSpPr/>
          <p:nvPr/>
        </p:nvCxnSpPr>
        <p:spPr>
          <a:xfrm>
            <a:off x="15010620" y="12859251"/>
            <a:ext cx="1189500" cy="470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1026">
            <a:extLst>
              <a:ext uri="{FF2B5EF4-FFF2-40B4-BE49-F238E27FC236}">
                <a16:creationId xmlns:a16="http://schemas.microsoft.com/office/drawing/2014/main" id="{3ABB552A-B418-AD8E-0189-BD01746E2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59" y="16443151"/>
            <a:ext cx="8185470" cy="4058170"/>
          </a:xfrm>
          <a:prstGeom prst="rect">
            <a:avLst/>
          </a:prstGeom>
        </p:spPr>
      </p:pic>
      <p:graphicFrame>
        <p:nvGraphicFramePr>
          <p:cNvPr id="1029" name="Table 1028">
            <a:extLst>
              <a:ext uri="{FF2B5EF4-FFF2-40B4-BE49-F238E27FC236}">
                <a16:creationId xmlns:a16="http://schemas.microsoft.com/office/drawing/2014/main" id="{E977F061-3264-6349-C708-5A4E86C27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742092"/>
              </p:ext>
            </p:extLst>
          </p:nvPr>
        </p:nvGraphicFramePr>
        <p:xfrm>
          <a:off x="8674840" y="16504317"/>
          <a:ext cx="12382296" cy="4047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716">
                  <a:extLst>
                    <a:ext uri="{9D8B030D-6E8A-4147-A177-3AD203B41FA5}">
                      <a16:colId xmlns:a16="http://schemas.microsoft.com/office/drawing/2014/main" val="4103487927"/>
                    </a:ext>
                  </a:extLst>
                </a:gridCol>
                <a:gridCol w="2063716">
                  <a:extLst>
                    <a:ext uri="{9D8B030D-6E8A-4147-A177-3AD203B41FA5}">
                      <a16:colId xmlns:a16="http://schemas.microsoft.com/office/drawing/2014/main" val="2717753334"/>
                    </a:ext>
                  </a:extLst>
                </a:gridCol>
                <a:gridCol w="2063716">
                  <a:extLst>
                    <a:ext uri="{9D8B030D-6E8A-4147-A177-3AD203B41FA5}">
                      <a16:colId xmlns:a16="http://schemas.microsoft.com/office/drawing/2014/main" val="4255981749"/>
                    </a:ext>
                  </a:extLst>
                </a:gridCol>
                <a:gridCol w="2063716">
                  <a:extLst>
                    <a:ext uri="{9D8B030D-6E8A-4147-A177-3AD203B41FA5}">
                      <a16:colId xmlns:a16="http://schemas.microsoft.com/office/drawing/2014/main" val="1825876364"/>
                    </a:ext>
                  </a:extLst>
                </a:gridCol>
                <a:gridCol w="2063716">
                  <a:extLst>
                    <a:ext uri="{9D8B030D-6E8A-4147-A177-3AD203B41FA5}">
                      <a16:colId xmlns:a16="http://schemas.microsoft.com/office/drawing/2014/main" val="1459633388"/>
                    </a:ext>
                  </a:extLst>
                </a:gridCol>
                <a:gridCol w="2063716">
                  <a:extLst>
                    <a:ext uri="{9D8B030D-6E8A-4147-A177-3AD203B41FA5}">
                      <a16:colId xmlns:a16="http://schemas.microsoft.com/office/drawing/2014/main" val="4105346945"/>
                    </a:ext>
                  </a:extLst>
                </a:gridCol>
              </a:tblGrid>
              <a:tr h="1349059">
                <a:tc>
                  <a:txBody>
                    <a:bodyPr/>
                    <a:lstStyle/>
                    <a:p>
                      <a:endParaRPr lang="en-IN" sz="219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IN" sz="219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IN" sz="219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Std.Error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29797"/>
                  </a:ext>
                </a:extLst>
              </a:tr>
              <a:tr h="1349059"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83.4000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8.24891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2.60853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775965"/>
                  </a:ext>
                </a:extLst>
              </a:tr>
              <a:tr h="1349059">
                <a:tc>
                  <a:txBody>
                    <a:bodyPr/>
                    <a:lstStyle/>
                    <a:p>
                      <a:endParaRPr lang="en-IN" sz="219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 Robin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76.6000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6.58618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2.08273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9867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1018</Words>
  <Application>Microsoft Office PowerPoint</Application>
  <PresentationFormat>Custom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vamsi vallepu</cp:lastModifiedBy>
  <cp:revision>66</cp:revision>
  <dcterms:created xsi:type="dcterms:W3CDTF">2023-04-19T08:35:00Z</dcterms:created>
  <dcterms:modified xsi:type="dcterms:W3CDTF">2024-04-17T14:34:11Z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653EA4DDE9264B7BBFB9647507C2B0E8</vt:lpwstr>
  </property>
  <property fmtid="{D5CDD505-2E9C-101B-9397-08002B2CF9AE}" pid="3" name="KSOProductBuildVer">
    <vt:lpwstr>1033-11.2.0.11536</vt:lpwstr>
  </property>
</Properties>
</file>